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91440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SOLIDIGM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91640"/>
            <a:ext cx="91440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CADCFC"/>
                </a:solidFill>
                <a:latin typeface="Calibri"/>
              </a:rPr>
              <a:t>Website Analytics Report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33172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9AB0CC"/>
                </a:solidFill>
                <a:latin typeface="Calibri"/>
              </a:rPr>
              <a:t>January vs February FY2026  |  B2B Digital Marketing Deep-Dive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880360"/>
            <a:ext cx="8686800" cy="36576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3108960"/>
            <a:ext cx="29260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F5A623"/>
                </a:solidFill>
                <a:latin typeface="Calibri"/>
              </a:rPr>
              <a:t>1.1M+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1188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CADCFC"/>
                </a:solidFill>
                <a:latin typeface="Calibri"/>
              </a:rPr>
              <a:t>Page Views Analyzed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0" y="3108960"/>
            <a:ext cx="29260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F5A623"/>
                </a:solidFill>
                <a:latin typeface="Calibri"/>
              </a:rPr>
              <a:t>~442K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361188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CADCFC"/>
                </a:solidFill>
                <a:latin typeface="Calibri"/>
              </a:rPr>
              <a:t>Unique Visitors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0" y="3108960"/>
            <a:ext cx="29260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F5A623"/>
                </a:solidFill>
                <a:latin typeface="Calibri"/>
              </a:rPr>
              <a:t>13%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0" y="361188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CADCFC"/>
                </a:solidFill>
                <a:latin typeface="Calibri"/>
              </a:rPr>
              <a:t>Bot Traffic Removed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6217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Prepared for: Digital Marketing Leadership  |  March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77295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Monthly KPI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27729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CADCFC"/>
                </a:solidFill>
                <a:latin typeface="Calibri"/>
              </a:rPr>
              <a:t>Jan FY26  vs  Feb FY26 — cleaned data (bots &amp; junk referrers removed)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868680"/>
            <a:ext cx="11704320" cy="384048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886968"/>
            <a:ext cx="25603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Metric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0" y="886968"/>
            <a:ext cx="25603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January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0" y="886968"/>
            <a:ext cx="25603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February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0" y="886968"/>
            <a:ext cx="25603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MoM Δ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252728"/>
            <a:ext cx="1170432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74320" y="1252728"/>
            <a:ext cx="54864" cy="54864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28016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293B"/>
                </a:solidFill>
                <a:latin typeface="Calibri"/>
              </a:rPr>
              <a:t>Page Views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1280160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65A82"/>
                </a:solidFill>
                <a:latin typeface="Calibri"/>
              </a:rPr>
              <a:t>500,168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1280160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1C7293"/>
                </a:solidFill>
                <a:latin typeface="Calibri"/>
              </a:rPr>
              <a:t>463,197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0" y="1280160"/>
            <a:ext cx="26517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DC2626"/>
                </a:solidFill>
                <a:latin typeface="Calibri"/>
              </a:rPr>
              <a:t>-7.4%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1819656"/>
            <a:ext cx="11704320" cy="54864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4320" y="1819656"/>
            <a:ext cx="54864" cy="54864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1847088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293B"/>
                </a:solidFill>
                <a:latin typeface="Calibri"/>
              </a:rPr>
              <a:t>Unique Visitors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0" y="1847088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65A82"/>
                </a:solidFill>
                <a:latin typeface="Calibri"/>
              </a:rPr>
              <a:t>222,103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80" y="1847088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1C7293"/>
                </a:solidFill>
                <a:latin typeface="Calibri"/>
              </a:rPr>
              <a:t>220,099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95360" y="1847088"/>
            <a:ext cx="26517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D97706"/>
                </a:solidFill>
                <a:latin typeface="Calibri"/>
              </a:rPr>
              <a:t>-0.9%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2386584"/>
            <a:ext cx="1170432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74320" y="2386584"/>
            <a:ext cx="54864" cy="54864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2414015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293B"/>
                </a:solidFill>
                <a:latin typeface="Calibri"/>
              </a:rPr>
              <a:t>Pages / Visitor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0" y="2414015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65A82"/>
                </a:solidFill>
                <a:latin typeface="Calibri"/>
              </a:rPr>
              <a:t>2.25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26480" y="2414015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1C7293"/>
                </a:solidFill>
                <a:latin typeface="Calibri"/>
              </a:rPr>
              <a:t>2.10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95360" y="2414015"/>
            <a:ext cx="26517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D97706"/>
                </a:solidFill>
                <a:latin typeface="Calibri"/>
              </a:rPr>
              <a:t>-0.15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" y="2953512"/>
            <a:ext cx="11704320" cy="54864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74320" y="2953512"/>
            <a:ext cx="54864" cy="54864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2920" y="2980944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293B"/>
                </a:solidFill>
                <a:latin typeface="Calibri"/>
              </a:rPr>
              <a:t>New Visitor 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0" y="2980944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65A82"/>
                </a:solidFill>
                <a:latin typeface="Calibri"/>
              </a:rPr>
              <a:t>5.2%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26480" y="2980944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1C7293"/>
                </a:solidFill>
                <a:latin typeface="Calibri"/>
              </a:rPr>
              <a:t>2.9%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95360" y="2980944"/>
            <a:ext cx="26517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DC2626"/>
                </a:solidFill>
                <a:latin typeface="Calibri"/>
              </a:rPr>
              <a:t>-2.3pp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74320" y="3520440"/>
            <a:ext cx="1170432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74320" y="3520440"/>
            <a:ext cx="54864" cy="54864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" y="3547872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293B"/>
                </a:solidFill>
                <a:latin typeface="Calibri"/>
              </a:rPr>
              <a:t>Returning Visitor 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0" y="3547872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65A82"/>
                </a:solidFill>
                <a:latin typeface="Calibri"/>
              </a:rPr>
              <a:t>94.8%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126480" y="3547872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1C7293"/>
                </a:solidFill>
                <a:latin typeface="Calibri"/>
              </a:rPr>
              <a:t>97.1%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95360" y="3547872"/>
            <a:ext cx="26517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59669"/>
                </a:solidFill>
                <a:latin typeface="Calibri"/>
              </a:rPr>
              <a:t>+2.3pp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74320" y="4087368"/>
            <a:ext cx="11704320" cy="54864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74320" y="4087368"/>
            <a:ext cx="54864" cy="54864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02920" y="411480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293B"/>
                </a:solidFill>
                <a:latin typeface="Calibri"/>
              </a:rPr>
              <a:t>Bounce Rate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0" y="4114800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65A82"/>
                </a:solidFill>
                <a:latin typeface="Calibri"/>
              </a:rPr>
              <a:t>63.3%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126480" y="4114800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1C7293"/>
                </a:solidFill>
                <a:latin typeface="Calibri"/>
              </a:rPr>
              <a:t>66.3%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595360" y="4114800"/>
            <a:ext cx="26517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DC2626"/>
                </a:solidFill>
                <a:latin typeface="Calibri"/>
              </a:rPr>
              <a:t>+3.0pp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74320" y="4654296"/>
            <a:ext cx="1170432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74320" y="4654296"/>
            <a:ext cx="54864" cy="54864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02920" y="4681727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293B"/>
                </a:solidFill>
                <a:latin typeface="Calibri"/>
              </a:rPr>
              <a:t>High-Engage (5+pgs)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657600" y="4681727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65A82"/>
                </a:solidFill>
                <a:latin typeface="Calibri"/>
              </a:rPr>
              <a:t>17,048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126480" y="4681727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1C7293"/>
                </a:solidFill>
                <a:latin typeface="Calibri"/>
              </a:rPr>
              <a:t>14,487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595360" y="4681727"/>
            <a:ext cx="26517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DC2626"/>
                </a:solidFill>
                <a:latin typeface="Calibri"/>
              </a:rPr>
              <a:t>-15.1%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74320" y="5221224"/>
            <a:ext cx="11704320" cy="54864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274320" y="5221224"/>
            <a:ext cx="54864" cy="54864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02920" y="5248656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293B"/>
                </a:solidFill>
                <a:latin typeface="Calibri"/>
              </a:rPr>
              <a:t>Hi-Engage %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657600" y="5248656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65A82"/>
                </a:solidFill>
                <a:latin typeface="Calibri"/>
              </a:rPr>
              <a:t>7.7%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126480" y="5248656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1C7293"/>
                </a:solidFill>
                <a:latin typeface="Calibri"/>
              </a:rPr>
              <a:t>6.6%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595360" y="5248656"/>
            <a:ext cx="26517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D97706"/>
                </a:solidFill>
                <a:latin typeface="Calibri"/>
              </a:rPr>
              <a:t>-1.1pp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74320" y="617220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64748B"/>
                </a:solidFill>
                <a:latin typeface="Calibri"/>
              </a:rPr>
              <a:t>★ Avg daily PVs: Jan 16,134  |  Feb 16,543  (+2.5% day-over-day normalized)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77295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Traffic Comparison — Month over Month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27729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CADCFC"/>
                </a:solidFill>
                <a:latin typeface="Calibri"/>
              </a:rPr>
              <a:t>Normalized daily averages show +2.5% growth despite Feb having 3 fewer calendar days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303520" cy="5394960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Traffic Source Shift (% Share)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CADCFC"/>
                </a:solidFill>
                <a:latin typeface="Calibri"/>
              </a:rPr>
              <a:t>Source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68880" y="13716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CADCFC"/>
                </a:solidFill>
                <a:latin typeface="Calibri"/>
              </a:rPr>
              <a:t>Jan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13716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CADCFC"/>
                </a:solidFill>
                <a:latin typeface="Calibri"/>
              </a:rPr>
              <a:t>Feb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13716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CADCFC"/>
                </a:solidFill>
                <a:latin typeface="Calibri"/>
              </a:rPr>
              <a:t>Δ pts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691640"/>
            <a:ext cx="5120640" cy="594360"/>
          </a:xfrm>
          <a:prstGeom prst="rect">
            <a:avLst/>
          </a:prstGeom>
          <a:solidFill>
            <a:srgbClr val="15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1783080"/>
            <a:ext cx="1828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Direct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68880" y="1783080"/>
            <a:ext cx="914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CADCFC"/>
                </a:solidFill>
                <a:latin typeface="Calibri"/>
              </a:rPr>
              <a:t>62.0%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1783080"/>
            <a:ext cx="914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CADCFC"/>
                </a:solidFill>
                <a:latin typeface="Calibri"/>
              </a:rPr>
              <a:t>52.1%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1783080"/>
            <a:ext cx="8229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DC2626"/>
                </a:solidFill>
                <a:latin typeface="Calibri"/>
              </a:rPr>
              <a:t>-9.9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350008"/>
            <a:ext cx="5120640" cy="594360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441448"/>
            <a:ext cx="1828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Organic Search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68880" y="2441448"/>
            <a:ext cx="914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CADCFC"/>
                </a:solidFill>
                <a:latin typeface="Calibri"/>
              </a:rPr>
              <a:t>22.9%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0" y="2441448"/>
            <a:ext cx="914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CADCFC"/>
                </a:solidFill>
                <a:latin typeface="Calibri"/>
              </a:rPr>
              <a:t>24.2%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2441448"/>
            <a:ext cx="8229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059669"/>
                </a:solidFill>
                <a:latin typeface="Calibri"/>
              </a:rPr>
              <a:t>+1.3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008376"/>
            <a:ext cx="5120640" cy="594360"/>
          </a:xfrm>
          <a:prstGeom prst="rect">
            <a:avLst/>
          </a:prstGeom>
          <a:solidFill>
            <a:srgbClr val="15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3099816"/>
            <a:ext cx="1828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Referral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68880" y="3099816"/>
            <a:ext cx="914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CADCFC"/>
                </a:solidFill>
                <a:latin typeface="Calibri"/>
              </a:rPr>
              <a:t> 8.3%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66160" y="3099816"/>
            <a:ext cx="914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CADCFC"/>
                </a:solidFill>
                <a:latin typeface="Calibri"/>
              </a:rPr>
              <a:t>15.7%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3099816"/>
            <a:ext cx="8229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059669"/>
                </a:solidFill>
                <a:latin typeface="Calibri"/>
              </a:rPr>
              <a:t>+7.4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666744"/>
            <a:ext cx="5120640" cy="594360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3758183"/>
            <a:ext cx="1828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Paid / Display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68880" y="3758183"/>
            <a:ext cx="914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CADCFC"/>
                </a:solidFill>
                <a:latin typeface="Calibri"/>
              </a:rPr>
              <a:t> 3.6%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66160" y="3758183"/>
            <a:ext cx="914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CADCFC"/>
                </a:solidFill>
                <a:latin typeface="Calibri"/>
              </a:rPr>
              <a:t> 6.0%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0" y="3758183"/>
            <a:ext cx="8229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D97706"/>
                </a:solidFill>
                <a:latin typeface="Calibri"/>
              </a:rPr>
              <a:t>+2.4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4325112"/>
            <a:ext cx="5120640" cy="594360"/>
          </a:xfrm>
          <a:prstGeom prst="rect">
            <a:avLst/>
          </a:prstGeom>
          <a:solidFill>
            <a:srgbClr val="15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4360" y="4416552"/>
            <a:ext cx="1828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Social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468880" y="4416552"/>
            <a:ext cx="914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CADCFC"/>
                </a:solidFill>
                <a:latin typeface="Calibri"/>
              </a:rPr>
              <a:t> 3.1%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66160" y="4416552"/>
            <a:ext cx="914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CADCFC"/>
                </a:solidFill>
                <a:latin typeface="Calibri"/>
              </a:rPr>
              <a:t> 2.0%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0" y="4416552"/>
            <a:ext cx="8229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DC2626"/>
                </a:solidFill>
                <a:latin typeface="Calibri"/>
              </a:rPr>
              <a:t>-1.1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943600" y="914400"/>
            <a:ext cx="2743200" cy="2286000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943600" y="914400"/>
            <a:ext cx="2743200" cy="7315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43600" y="1051560"/>
            <a:ext cx="27432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600" b="1" i="0">
                <a:solidFill>
                  <a:srgbClr val="059669"/>
                </a:solidFill>
                <a:latin typeface="Calibri"/>
              </a:rPr>
              <a:t>+2.5%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43600" y="1874519"/>
            <a:ext cx="27432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CADCFC"/>
                </a:solidFill>
                <a:latin typeface="Calibri"/>
              </a:rPr>
              <a:t>Avg daily page views</a:t>
            </a:r>
            <a:br/>
            <a:r>
              <a:t>grew month-over-month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869680" y="914400"/>
            <a:ext cx="2743200" cy="2286000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869680" y="914400"/>
            <a:ext cx="2743200" cy="731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869680" y="1051560"/>
            <a:ext cx="27432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600" b="1" i="0">
                <a:solidFill>
                  <a:srgbClr val="D97706"/>
                </a:solidFill>
                <a:latin typeface="Calibri"/>
              </a:rPr>
              <a:t>-9.9pp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869680" y="1874519"/>
            <a:ext cx="27432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CADCFC"/>
                </a:solidFill>
                <a:latin typeface="Calibri"/>
              </a:rPr>
              <a:t>Drop in Direct share</a:t>
            </a:r>
            <a:br/>
            <a:r>
              <a:t>(may signal dark social)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943600" y="3474720"/>
            <a:ext cx="2743200" cy="2286000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943600" y="3474720"/>
            <a:ext cx="2743200" cy="7315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943600" y="3611879"/>
            <a:ext cx="27432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600" b="1" i="0">
                <a:solidFill>
                  <a:srgbClr val="059669"/>
                </a:solidFill>
                <a:latin typeface="Calibri"/>
              </a:rPr>
              <a:t>+7.4pp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943600" y="4434840"/>
            <a:ext cx="27432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CADCFC"/>
                </a:solidFill>
                <a:latin typeface="Calibri"/>
              </a:rPr>
              <a:t>Referral share growth</a:t>
            </a:r>
            <a:br/>
            <a:r>
              <a:t>(new partnerships)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869680" y="3474720"/>
            <a:ext cx="2743200" cy="2286000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8869680" y="3474720"/>
            <a:ext cx="2743200" cy="73152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869680" y="3611879"/>
            <a:ext cx="27432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600" b="1" i="0">
                <a:solidFill>
                  <a:srgbClr val="F5A623"/>
                </a:solidFill>
                <a:latin typeface="Calibri"/>
              </a:rPr>
              <a:t>+2.4pp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869680" y="4434840"/>
            <a:ext cx="27432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CADCFC"/>
                </a:solidFill>
                <a:latin typeface="Calibri"/>
              </a:rPr>
              <a:t>Paid/Display growth</a:t>
            </a:r>
            <a:br/>
            <a:r>
              <a:t>(campaign ramp-up)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65760" y="61722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CADCFC"/>
                </a:solidFill>
                <a:latin typeface="Calibri"/>
              </a:rPr>
              <a:t>Day-of-week peak: JAN → Fri (85,836 PVs)  |  FEB → Tue (75,535 PVs)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77295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Top Traffic Leaders &amp; Engagement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27729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CADCFC"/>
                </a:solidFill>
                <a:latin typeface="Calibri"/>
              </a:rPr>
              <a:t>Top 10 pages by page views — Jan vs Feb  |  Engagement = pages/visitor for that page's audience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868680"/>
            <a:ext cx="11612880" cy="384048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886968"/>
            <a:ext cx="3200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886968"/>
            <a:ext cx="35204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Page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886968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Jan PVs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32120" y="886968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Feb PVs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20840" y="886968"/>
            <a:ext cx="109728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MoM 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09560" y="886968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Feb Visitors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89720" y="886968"/>
            <a:ext cx="269748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Engagement Signal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1298448"/>
            <a:ext cx="1161288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20040" y="1335024"/>
            <a:ext cx="320040" cy="347472"/>
          </a:xfrm>
          <a:prstGeom prst="round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0040" y="1353312"/>
            <a:ext cx="3200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1371600"/>
            <a:ext cx="35204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E293B"/>
                </a:solidFill>
                <a:latin typeface="Calibri"/>
              </a:rPr>
              <a:t>Solidigm Data Storage Solutions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51960" y="13716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1E293B"/>
                </a:solidFill>
                <a:latin typeface="Calibri"/>
              </a:rPr>
              <a:t>180,811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32120" y="13716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065A82"/>
                </a:solidFill>
                <a:latin typeface="Calibri"/>
              </a:rPr>
              <a:t>151,016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20840" y="1371600"/>
            <a:ext cx="109728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DC2626"/>
                </a:solidFill>
                <a:latin typeface="Calibri"/>
              </a:rPr>
              <a:t>-16.5%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9560" y="13716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1E293B"/>
                </a:solidFill>
                <a:latin typeface="Calibri"/>
              </a:rPr>
              <a:t>79,392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89720" y="1371600"/>
            <a:ext cx="269748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Homepage — primary entry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1755648"/>
            <a:ext cx="11612880" cy="43891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320040" y="1792224"/>
            <a:ext cx="320040" cy="347472"/>
          </a:xfrm>
          <a:prstGeom prst="round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0040" y="1810512"/>
            <a:ext cx="3200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1828800"/>
            <a:ext cx="35204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E293B"/>
                </a:solidFill>
                <a:latin typeface="Calibri"/>
              </a:rPr>
              <a:t>AI Storage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51960" y="18288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1E293B"/>
                </a:solidFill>
                <a:latin typeface="Calibri"/>
              </a:rPr>
              <a:t> 81,376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532120" y="18288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065A82"/>
                </a:solidFill>
                <a:latin typeface="Calibri"/>
              </a:rPr>
              <a:t> 74,967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20840" y="1828800"/>
            <a:ext cx="109728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DC2626"/>
                </a:solidFill>
                <a:latin typeface="Calibri"/>
              </a:rPr>
              <a:t> -7.9%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09560" y="18288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1E293B"/>
                </a:solidFill>
                <a:latin typeface="Calibri"/>
              </a:rPr>
              <a:t>43,213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9720" y="1828800"/>
            <a:ext cx="269748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Core product — SEO driver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0040" y="2212848"/>
            <a:ext cx="1161288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320040" y="2249424"/>
            <a:ext cx="320040" cy="347472"/>
          </a:xfrm>
          <a:prstGeom prst="round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20040" y="2267712"/>
            <a:ext cx="3200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" y="2286000"/>
            <a:ext cx="35204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E293B"/>
                </a:solidFill>
                <a:latin typeface="Calibri"/>
              </a:rPr>
              <a:t>Edge Storage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51960" y="22860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1E293B"/>
                </a:solidFill>
                <a:latin typeface="Calibri"/>
              </a:rPr>
              <a:t> 49,221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532120" y="22860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065A82"/>
                </a:solidFill>
                <a:latin typeface="Calibri"/>
              </a:rPr>
              <a:t> 49,348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20840" y="2286000"/>
            <a:ext cx="109728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059669"/>
                </a:solidFill>
                <a:latin typeface="Calibri"/>
              </a:rPr>
              <a:t> +0.3%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909560" y="22860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1E293B"/>
                </a:solidFill>
                <a:latin typeface="Calibri"/>
              </a:rPr>
              <a:t>27,390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89720" y="2286000"/>
            <a:ext cx="269748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Stable — consistent demand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20040" y="2670048"/>
            <a:ext cx="11612880" cy="43891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320040" y="2706624"/>
            <a:ext cx="320040" cy="347472"/>
          </a:xfrm>
          <a:prstGeom prst="round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20040" y="2724912"/>
            <a:ext cx="3200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743200"/>
            <a:ext cx="35204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E293B"/>
                </a:solidFill>
                <a:latin typeface="Calibri"/>
              </a:rPr>
              <a:t>Our Story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51960" y="27432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1E293B"/>
                </a:solidFill>
                <a:latin typeface="Calibri"/>
              </a:rPr>
              <a:t>  7,906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532120" y="27432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065A82"/>
                </a:solidFill>
                <a:latin typeface="Calibri"/>
              </a:rPr>
              <a:t> 29,207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720840" y="2743200"/>
            <a:ext cx="109728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059669"/>
                </a:solidFill>
                <a:latin typeface="Calibri"/>
              </a:rPr>
              <a:t>+269%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909560" y="27432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1E293B"/>
                </a:solidFill>
                <a:latin typeface="Calibri"/>
              </a:rPr>
              <a:t>16,418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189720" y="2743200"/>
            <a:ext cx="269748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&gt;&gt; Breakout page in Feb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20040" y="3127248"/>
            <a:ext cx="1161288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320040" y="3163824"/>
            <a:ext cx="320040" cy="347472"/>
          </a:xfrm>
          <a:prstGeom prst="round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20040" y="3182112"/>
            <a:ext cx="3200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5800" y="3200400"/>
            <a:ext cx="35204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E293B"/>
                </a:solidFill>
                <a:latin typeface="Calibri"/>
              </a:rPr>
              <a:t>数据中心 (Data Center – CN)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251960" y="32004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1E293B"/>
                </a:solidFill>
                <a:latin typeface="Calibri"/>
              </a:rPr>
              <a:t> 23,350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532120" y="32004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065A82"/>
                </a:solidFill>
                <a:latin typeface="Calibri"/>
              </a:rPr>
              <a:t> 22,210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720840" y="3200400"/>
            <a:ext cx="109728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DC2626"/>
                </a:solidFill>
                <a:latin typeface="Calibri"/>
              </a:rPr>
              <a:t> -4.9%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909560" y="32004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1E293B"/>
                </a:solidFill>
                <a:latin typeface="Calibri"/>
              </a:rPr>
              <a:t>19,869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189720" y="3200400"/>
            <a:ext cx="269748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Strong APAC engagement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20040" y="3584448"/>
            <a:ext cx="11612880" cy="43891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320040" y="3621024"/>
            <a:ext cx="320040" cy="347472"/>
          </a:xfrm>
          <a:prstGeom prst="round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20040" y="3639312"/>
            <a:ext cx="3200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85800" y="3657600"/>
            <a:ext cx="35204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E293B"/>
                </a:solidFill>
                <a:latin typeface="Calibri"/>
              </a:rPr>
              <a:t>D5-P5336 (Product)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251960" y="36576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1E293B"/>
                </a:solidFill>
                <a:latin typeface="Calibri"/>
              </a:rPr>
              <a:t> 14,991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532120" y="36576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065A82"/>
                </a:solidFill>
                <a:latin typeface="Calibri"/>
              </a:rPr>
              <a:t> 11,370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720840" y="3657600"/>
            <a:ext cx="109728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DC2626"/>
                </a:solidFill>
                <a:latin typeface="Calibri"/>
              </a:rPr>
              <a:t>-24.2%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909560" y="36576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1E293B"/>
                </a:solidFill>
                <a:latin typeface="Calibri"/>
              </a:rPr>
              <a:t> 5,307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189720" y="3657600"/>
            <a:ext cx="269748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Product detail — intent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20040" y="4041648"/>
            <a:ext cx="1161288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320040" y="4078224"/>
            <a:ext cx="320040" cy="347472"/>
          </a:xfrm>
          <a:prstGeom prst="round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20040" y="4096511"/>
            <a:ext cx="3200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85800" y="4114800"/>
            <a:ext cx="35204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E293B"/>
                </a:solidFill>
                <a:latin typeface="Calibri"/>
              </a:rPr>
              <a:t>Solidigm 数据存储解决方案 (CN)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251960" y="41148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1E293B"/>
                </a:solidFill>
                <a:latin typeface="Calibri"/>
              </a:rPr>
              <a:t>  5,726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532120" y="41148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065A82"/>
                </a:solidFill>
                <a:latin typeface="Calibri"/>
              </a:rPr>
              <a:t> 10,075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720840" y="4114800"/>
            <a:ext cx="109728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059669"/>
                </a:solidFill>
                <a:latin typeface="Calibri"/>
              </a:rPr>
              <a:t>+76.0%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909560" y="41148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1E293B"/>
                </a:solidFill>
                <a:latin typeface="Calibri"/>
              </a:rPr>
              <a:t> 3,617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189720" y="4114800"/>
            <a:ext cx="269748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Growing CN localization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20040" y="4498848"/>
            <a:ext cx="11612880" cy="43891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320040" y="4535424"/>
            <a:ext cx="320040" cy="347472"/>
          </a:xfrm>
          <a:prstGeom prst="round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320040" y="4553712"/>
            <a:ext cx="3200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85800" y="4572000"/>
            <a:ext cx="35204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E293B"/>
                </a:solidFill>
                <a:latin typeface="Calibri"/>
              </a:rPr>
              <a:t>Air-to-Liquid Cooling Article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251960" y="45720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1E293B"/>
                </a:solidFill>
                <a:latin typeface="Calibri"/>
              </a:rPr>
              <a:t>  7,160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532120" y="45720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065A82"/>
                </a:solidFill>
                <a:latin typeface="Calibri"/>
              </a:rPr>
              <a:t>  6,495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720840" y="4572000"/>
            <a:ext cx="109728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DC2626"/>
                </a:solidFill>
                <a:latin typeface="Calibri"/>
              </a:rPr>
              <a:t> -9.3%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909560" y="45720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1E293B"/>
                </a:solidFill>
                <a:latin typeface="Calibri"/>
              </a:rPr>
              <a:t> 2,719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189720" y="4572000"/>
            <a:ext cx="269748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Thought leadership</a:t>
            </a:r>
          </a:p>
        </p:txBody>
      </p:sp>
      <p:sp>
        <p:nvSpPr>
          <p:cNvPr id="85" name="Rectangle 84"/>
          <p:cNvSpPr/>
          <p:nvPr/>
        </p:nvSpPr>
        <p:spPr>
          <a:xfrm>
            <a:off x="320040" y="4956048"/>
            <a:ext cx="1161288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ounded Rectangle 85"/>
          <p:cNvSpPr/>
          <p:nvPr/>
        </p:nvSpPr>
        <p:spPr>
          <a:xfrm>
            <a:off x="320040" y="4992624"/>
            <a:ext cx="320040" cy="347472"/>
          </a:xfrm>
          <a:prstGeom prst="round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320040" y="5010912"/>
            <a:ext cx="3200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85800" y="5029200"/>
            <a:ext cx="35204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E293B"/>
                </a:solidFill>
                <a:latin typeface="Calibri"/>
              </a:rPr>
              <a:t>Solidigm Storage Tool™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251960" y="50292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1E293B"/>
                </a:solidFill>
                <a:latin typeface="Calibri"/>
              </a:rPr>
              <a:t>  4,551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532120" y="50292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065A82"/>
                </a:solidFill>
                <a:latin typeface="Calibri"/>
              </a:rPr>
              <a:t>  3,960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720840" y="5029200"/>
            <a:ext cx="109728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DC2626"/>
                </a:solidFill>
                <a:latin typeface="Calibri"/>
              </a:rPr>
              <a:t>-13.0%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909560" y="50292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1E293B"/>
                </a:solidFill>
                <a:latin typeface="Calibri"/>
              </a:rPr>
              <a:t> 1,368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9189720" y="5029200"/>
            <a:ext cx="269748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Support tool</a:t>
            </a:r>
          </a:p>
        </p:txBody>
      </p:sp>
      <p:sp>
        <p:nvSpPr>
          <p:cNvPr id="94" name="Rectangle 93"/>
          <p:cNvSpPr/>
          <p:nvPr/>
        </p:nvSpPr>
        <p:spPr>
          <a:xfrm>
            <a:off x="320040" y="5413248"/>
            <a:ext cx="11612880" cy="43891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ounded Rectangle 94"/>
          <p:cNvSpPr/>
          <p:nvPr/>
        </p:nvSpPr>
        <p:spPr>
          <a:xfrm>
            <a:off x="320040" y="5449824"/>
            <a:ext cx="320040" cy="347472"/>
          </a:xfrm>
          <a:prstGeom prst="round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320040" y="5468112"/>
            <a:ext cx="3200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85800" y="5486400"/>
            <a:ext cx="35204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E293B"/>
                </a:solidFill>
                <a:latin typeface="Calibri"/>
              </a:rPr>
              <a:t>D7-PS1010 (Product)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251960" y="54864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1E293B"/>
                </a:solidFill>
                <a:latin typeface="Calibri"/>
              </a:rPr>
              <a:t>  4,191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5532120" y="54864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065A82"/>
                </a:solidFill>
                <a:latin typeface="Calibri"/>
              </a:rPr>
              <a:t>  2,825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720840" y="5486400"/>
            <a:ext cx="109728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DC2626"/>
                </a:solidFill>
                <a:latin typeface="Calibri"/>
              </a:rPr>
              <a:t>-32.6%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909560" y="54864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1E293B"/>
                </a:solidFill>
                <a:latin typeface="Calibri"/>
              </a:rPr>
              <a:t>   753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189720" y="5486400"/>
            <a:ext cx="269748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Product detail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320040" y="6236208"/>
            <a:ext cx="11430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065A82"/>
                </a:solidFill>
                <a:latin typeface="Calibri"/>
              </a:rPr>
              <a:t>&gt;&gt; Our Story page surged 269% MoM — a strategic content opportunity worth amplifying.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77295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Bounce Rate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27729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CADCFC"/>
                </a:solidFill>
                <a:latin typeface="Calibri"/>
              </a:rPr>
              <a:t>Overall: Jan 63.3%  →  Feb 66.3%  (+3.0 pp)  |  A bounce = visitor who viewed only 1 page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120640" cy="5074920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47548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By Traffic Source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4937760" cy="685800"/>
          </a:xfrm>
          <a:prstGeom prst="rect">
            <a:avLst/>
          </a:prstGeom>
          <a:solidFill>
            <a:srgbClr val="15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508760"/>
            <a:ext cx="19202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Organic 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60320" y="1508760"/>
            <a:ext cx="10972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CADCFC"/>
                </a:solidFill>
                <a:latin typeface="Calibri"/>
              </a:rPr>
              <a:t>57.5%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1508760"/>
            <a:ext cx="10972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D97706"/>
                </a:solidFill>
                <a:latin typeface="Calibri"/>
              </a:rPr>
              <a:t>62.7%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167128"/>
            <a:ext cx="4937760" cy="685800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258568"/>
            <a:ext cx="19202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Direct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20" y="2258568"/>
            <a:ext cx="10972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CADCFC"/>
                </a:solidFill>
                <a:latin typeface="Calibri"/>
              </a:rPr>
              <a:t>67.4%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258568"/>
            <a:ext cx="10972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DC2626"/>
                </a:solidFill>
                <a:latin typeface="Calibri"/>
              </a:rPr>
              <a:t>72.2%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916936"/>
            <a:ext cx="4937760" cy="685800"/>
          </a:xfrm>
          <a:prstGeom prst="rect">
            <a:avLst/>
          </a:prstGeom>
          <a:solidFill>
            <a:srgbClr val="15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008376"/>
            <a:ext cx="19202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Referral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60320" y="3008376"/>
            <a:ext cx="10972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CADCFC"/>
                </a:solidFill>
                <a:latin typeface="Calibri"/>
              </a:rPr>
              <a:t>65.9%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0" y="3008376"/>
            <a:ext cx="10972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D97706"/>
                </a:solidFill>
                <a:latin typeface="Calibri"/>
              </a:rPr>
              <a:t>66.2%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666744"/>
            <a:ext cx="4937760" cy="685800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3758183"/>
            <a:ext cx="19202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Paid / Display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60320" y="3758183"/>
            <a:ext cx="10972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CADCFC"/>
                </a:solidFill>
                <a:latin typeface="Calibri"/>
              </a:rPr>
              <a:t>73.5%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3758183"/>
            <a:ext cx="10972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059669"/>
                </a:solidFill>
                <a:latin typeface="Calibri"/>
              </a:rPr>
              <a:t>68.2%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416552"/>
            <a:ext cx="4937760" cy="685800"/>
          </a:xfrm>
          <a:prstGeom prst="rect">
            <a:avLst/>
          </a:prstGeom>
          <a:solidFill>
            <a:srgbClr val="15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4507992"/>
            <a:ext cx="19202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Social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60320" y="4507992"/>
            <a:ext cx="10972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CADCFC"/>
                </a:solidFill>
                <a:latin typeface="Calibri"/>
              </a:rPr>
              <a:t>74.8%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0" y="4507992"/>
            <a:ext cx="10972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DC2626"/>
                </a:solidFill>
                <a:latin typeface="Calibri"/>
              </a:rPr>
              <a:t>75.0%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132588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CADCFC"/>
                </a:solidFill>
                <a:latin typeface="Calibri"/>
              </a:rPr>
              <a:t>            Source         Jan     Feb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760720" y="914400"/>
            <a:ext cx="6126480" cy="2194560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0" y="960120"/>
            <a:ext cx="57607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By Device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0" y="1371600"/>
            <a:ext cx="5760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C2626"/>
                </a:solidFill>
                <a:latin typeface="Calibri"/>
              </a:rPr>
              <a:t>Desktop    63.0% → 67.3%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0" y="1920240"/>
            <a:ext cx="5760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C2626"/>
                </a:solidFill>
                <a:latin typeface="Calibri"/>
              </a:rPr>
              <a:t>Mobile     67.7% → 69.2%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2468880"/>
            <a:ext cx="5760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059669"/>
                </a:solidFill>
                <a:latin typeface="Calibri"/>
              </a:rPr>
              <a:t>Tablet     35.3% → 14.8%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760720" y="3291840"/>
            <a:ext cx="6126480" cy="2743200"/>
          </a:xfrm>
          <a:prstGeom prst="rect">
            <a:avLst/>
          </a:prstGeom>
          <a:solidFill>
            <a:srgbClr val="15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760720" y="3291840"/>
            <a:ext cx="6126480" cy="6400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943600" y="3383280"/>
            <a:ext cx="57607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5A623"/>
                </a:solidFill>
                <a:latin typeface="Calibri"/>
              </a:rPr>
              <a:t>&gt;&gt; Recommendations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943600" y="3840480"/>
            <a:ext cx="576072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→  Google/Bing bounce &lt;50% → invest in SEO content (highest-quality source)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00" y="4224528"/>
            <a:ext cx="576072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→  Amazon Ads BR 99.3% → stop or rebuild landing page immediately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4608576"/>
            <a:ext cx="576072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→  Paid display BR 73% → narrow audience targeting; align ad to page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43600" y="4992624"/>
            <a:ext cx="576072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→  Mobile BR worsening (+1.5pp) → test page speed &amp; mobile CTA clarity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43600" y="5376672"/>
            <a:ext cx="576072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→  Tablet BR improving dramatically → study what's working there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77295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Our-Story Page: Conversion &amp; Engagement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27729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CADCFC"/>
                </a:solidFill>
                <a:latin typeface="Calibri"/>
              </a:rPr>
              <a:t>Covers who-we-are.html · our-story.html · careers-page.html (EN + CN variants)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60120"/>
            <a:ext cx="1828800" cy="1325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1033272"/>
            <a:ext cx="1828800" cy="7292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65A82"/>
                </a:solidFill>
                <a:latin typeface="Calibri"/>
              </a:rPr>
              <a:t>7,906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729130"/>
            <a:ext cx="1828800" cy="46405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Jan Page Views</a:t>
            </a:r>
          </a:p>
        </p:txBody>
      </p:sp>
      <p:sp>
        <p:nvSpPr>
          <p:cNvPr id="8" name="Rectangle 7"/>
          <p:cNvSpPr/>
          <p:nvPr/>
        </p:nvSpPr>
        <p:spPr>
          <a:xfrm>
            <a:off x="2286000" y="960120"/>
            <a:ext cx="1828800" cy="1325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86000" y="1033272"/>
            <a:ext cx="1828800" cy="7292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1C7293"/>
                </a:solidFill>
                <a:latin typeface="Calibri"/>
              </a:rPr>
              <a:t>35,040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0" y="1729130"/>
            <a:ext cx="1828800" cy="46405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Feb Page Views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51959" y="960120"/>
            <a:ext cx="1828800" cy="1325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51959" y="1033272"/>
            <a:ext cx="1828800" cy="7292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59669"/>
                </a:solidFill>
                <a:latin typeface="Calibri"/>
              </a:rPr>
              <a:t>+343%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51959" y="1729130"/>
            <a:ext cx="1828800" cy="46405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MoM PV Growth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19" y="960120"/>
            <a:ext cx="1828800" cy="1325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19" y="1033272"/>
            <a:ext cx="1828800" cy="7292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65A82"/>
                </a:solidFill>
                <a:latin typeface="Calibri"/>
              </a:rPr>
              <a:t>2,446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19" y="1729130"/>
            <a:ext cx="1828800" cy="46405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Jan Unique Visitors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83879" y="960120"/>
            <a:ext cx="1828800" cy="1325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83879" y="1033272"/>
            <a:ext cx="1828800" cy="7292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1C7293"/>
                </a:solidFill>
                <a:latin typeface="Calibri"/>
              </a:rPr>
              <a:t>18,572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83879" y="1729130"/>
            <a:ext cx="1828800" cy="46405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Feb Unique Visitors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149840" y="960120"/>
            <a:ext cx="1828800" cy="1325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149840" y="1033272"/>
            <a:ext cx="1828800" cy="7292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59669"/>
                </a:solidFill>
                <a:latin typeface="Calibri"/>
              </a:rPr>
              <a:t>+659%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49840" y="1729130"/>
            <a:ext cx="1828800" cy="46405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MoM Visitor Growth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0040" y="2468880"/>
            <a:ext cx="5303520" cy="3429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20040" y="2468880"/>
            <a:ext cx="54864" cy="342900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2514600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65A82"/>
                </a:solidFill>
                <a:latin typeface="Calibri"/>
              </a:rPr>
              <a:t>Engagement After Our-Story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2971800"/>
            <a:ext cx="2743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Jan multi-page rate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2971800"/>
            <a:ext cx="11887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059669"/>
                </a:solidFill>
                <a:latin typeface="Calibri"/>
              </a:rPr>
              <a:t>58.5%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34840" y="2971800"/>
            <a:ext cx="7589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1,430 of 2,446 visitors continued browsing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3685032"/>
            <a:ext cx="2743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Feb multi-page rate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37560" y="3685032"/>
            <a:ext cx="11887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D97706"/>
                </a:solidFill>
                <a:latin typeface="Calibri"/>
              </a:rPr>
              <a:t>40.4%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34840" y="3685032"/>
            <a:ext cx="7589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7,504 of 18,572 visitors continued browsing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4398264"/>
            <a:ext cx="2743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Jan avg bounce (site-wide)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337560" y="4398264"/>
            <a:ext cx="11887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059669"/>
                </a:solidFill>
                <a:latin typeface="Calibri"/>
              </a:rPr>
              <a:t>63.3%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34840" y="4398264"/>
            <a:ext cx="7589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Our-story BEATS site avg in Jan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5111496"/>
            <a:ext cx="2743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Feb avg bounce (site-wide)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37560" y="5111496"/>
            <a:ext cx="11887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DC2626"/>
                </a:solidFill>
                <a:latin typeface="Calibri"/>
              </a:rPr>
              <a:t>66.3%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34840" y="5111496"/>
            <a:ext cx="7589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Our-story struggles to retain Feb surge visitors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897880" y="2468880"/>
            <a:ext cx="5989320" cy="3429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897880" y="2468880"/>
            <a:ext cx="54864" cy="34290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126480" y="2514600"/>
            <a:ext cx="55778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65A82"/>
                </a:solidFill>
                <a:latin typeface="Calibri"/>
              </a:rPr>
              <a:t>Where Our-Story Visitors Go Next (Feb)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126480" y="2971800"/>
            <a:ext cx="457200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Solidigm Data Storage Solutions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698480" y="2971800"/>
            <a:ext cx="82296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65A82"/>
                </a:solidFill>
                <a:latin typeface="Calibri"/>
              </a:rPr>
              <a:t>1,212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126480" y="3447288"/>
            <a:ext cx="457200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AI Storage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698480" y="3447288"/>
            <a:ext cx="82296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65A82"/>
                </a:solidFill>
                <a:latin typeface="Calibri"/>
              </a:rPr>
              <a:t>  660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126480" y="3922776"/>
            <a:ext cx="457200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Edge Storage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698480" y="3922776"/>
            <a:ext cx="82296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65A82"/>
                </a:solidFill>
                <a:latin typeface="Calibri"/>
              </a:rPr>
              <a:t>  470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126480" y="4398264"/>
            <a:ext cx="457200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数据中心 (Data Center – CN)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698480" y="4398264"/>
            <a:ext cx="82296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65A82"/>
                </a:solidFill>
                <a:latin typeface="Calibri"/>
              </a:rPr>
              <a:t>  142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126480" y="4873752"/>
            <a:ext cx="457200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D5-P5336 (Product)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698480" y="4873752"/>
            <a:ext cx="82296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65A82"/>
                </a:solidFill>
                <a:latin typeface="Calibri"/>
              </a:rPr>
              <a:t>   90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126480" y="5349240"/>
            <a:ext cx="457200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Incredible Power Article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698480" y="5349240"/>
            <a:ext cx="82296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65A82"/>
                </a:solidFill>
                <a:latin typeface="Calibri"/>
              </a:rPr>
              <a:t>   34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20040" y="6199632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065A82"/>
                </a:solidFill>
                <a:latin typeface="Calibri"/>
              </a:rPr>
              <a:t>&gt;&gt; Our-Story → Product pages flow confirms: brand trust pages are a key step in the B2B consideration funnel.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77295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Device Performance: Mobile vs Desktop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27729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CADCFC"/>
                </a:solidFill>
                <a:latin typeface="Calibri"/>
              </a:rPr>
              <a:t>Mobile traffic share grew from 36.3% → 46.1% MoM — a 10pp shift in one month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14400"/>
            <a:ext cx="5440680" cy="5074920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0292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CADCFC"/>
                </a:solidFill>
                <a:latin typeface="Calibri"/>
              </a:rPr>
              <a:t>JANUARY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463040"/>
            <a:ext cx="5257800" cy="123444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50876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Desktop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68880" y="1463040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2600" b="1" i="0">
                <a:solidFill>
                  <a:srgbClr val="FFFFFF"/>
                </a:solidFill>
                <a:latin typeface="Calibri"/>
              </a:rPr>
              <a:t>61.8%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057400"/>
            <a:ext cx="46634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122,762 UVs  |  BR 63.0%  |  PPV 2.52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852928"/>
            <a:ext cx="5257800" cy="123444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898648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Mobile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68880" y="2852928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2600" b="1" i="0">
                <a:solidFill>
                  <a:srgbClr val="FFFFFF"/>
                </a:solidFill>
                <a:latin typeface="Calibri"/>
              </a:rPr>
              <a:t>36.3%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3447288"/>
            <a:ext cx="46634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104,781 UVs  |  BR 67.7%  |  PPV 1.73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4242816"/>
            <a:ext cx="5257800" cy="123444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288536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Tablet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68880" y="4242816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2600" b="1" i="0">
                <a:solidFill>
                  <a:srgbClr val="FFFFFF"/>
                </a:solidFill>
                <a:latin typeface="Calibri"/>
              </a:rPr>
              <a:t> 0.3%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4837176"/>
            <a:ext cx="46634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    549 UVs  |  BR 35.3%  |  PPV 2.87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80760" y="914400"/>
            <a:ext cx="5440680" cy="5074920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960120"/>
            <a:ext cx="50292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5A623"/>
                </a:solidFill>
                <a:latin typeface="Calibri"/>
              </a:rPr>
              <a:t>FEBRUARY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72200" y="1463040"/>
            <a:ext cx="5257800" cy="123444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55080" y="150876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Desktop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69680" y="1463040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2600" b="1" i="0">
                <a:solidFill>
                  <a:srgbClr val="FFFFFF"/>
                </a:solidFill>
                <a:latin typeface="Calibri"/>
              </a:rPr>
              <a:t>50.4%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2057400"/>
            <a:ext cx="46634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107,435 UVs  |  BR 67.3%  |  PPV 2.17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2852928"/>
            <a:ext cx="5257800" cy="123444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55080" y="2898648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Mobile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69680" y="2852928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2600" b="1" i="0">
                <a:solidFill>
                  <a:srgbClr val="FFFFFF"/>
                </a:solidFill>
                <a:latin typeface="Calibri"/>
              </a:rPr>
              <a:t>46.1%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5080" y="3447288"/>
            <a:ext cx="46634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117,678 UVs  |  BR 69.2%  |  PPV 1.81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72200" y="4242816"/>
            <a:ext cx="5257800" cy="123444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55080" y="4288536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Tablet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69680" y="4242816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2600" b="1" i="0">
                <a:solidFill>
                  <a:srgbClr val="FFFFFF"/>
                </a:solidFill>
                <a:latin typeface="Calibri"/>
              </a:rPr>
              <a:t> 0.7%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5080" y="4837176"/>
            <a:ext cx="46634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    643 UVs  |  BR 14.8%  |  PPV 5.25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20040" y="6199632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F5A623"/>
                </a:solidFill>
                <a:latin typeface="Calibri"/>
              </a:rPr>
              <a:t>&gt;&gt; Mobile surged from 36% → 46% in one month. Yet mobile PPV (1.81) still lags desktop (2.17) — a UX optimization gap.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77295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Geographic &amp; Language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27729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CADCFC"/>
                </a:solidFill>
                <a:latin typeface="Calibri"/>
              </a:rPr>
              <a:t>USA dominates — but APAC engagement quality far exceeds traffic share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14400"/>
            <a:ext cx="5669280" cy="5074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914400"/>
            <a:ext cx="54864" cy="50749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960120"/>
            <a:ext cx="53035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65A82"/>
                </a:solidFill>
                <a:latin typeface="Calibri"/>
              </a:rPr>
              <a:t>Top Countries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4173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64748B"/>
                </a:solidFill>
                <a:latin typeface="Calibri"/>
              </a:rPr>
              <a:t>Country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23160" y="14173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64748B"/>
                </a:solidFill>
                <a:latin typeface="Calibri"/>
              </a:rPr>
              <a:t>Jan 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0440" y="14173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64748B"/>
                </a:solidFill>
                <a:latin typeface="Calibri"/>
              </a:rPr>
              <a:t>Feb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14173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64748B"/>
                </a:solidFill>
                <a:latin typeface="Calibri"/>
              </a:rPr>
              <a:t>MoM Δ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1737360"/>
            <a:ext cx="548640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1810512"/>
            <a:ext cx="16916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USA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23160" y="1810512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65A82"/>
                </a:solidFill>
                <a:latin typeface="Calibri"/>
              </a:rPr>
              <a:t>70.2%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0440" y="1810512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C7293"/>
                </a:solidFill>
                <a:latin typeface="Calibri"/>
              </a:rPr>
              <a:t>80.3%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1810512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59669"/>
                </a:solidFill>
                <a:latin typeface="Calibri"/>
              </a:rPr>
              <a:t>+10.1pp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2240280"/>
            <a:ext cx="5486400" cy="4754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2313432"/>
            <a:ext cx="16916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UK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23160" y="2313432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65A82"/>
                </a:solidFill>
                <a:latin typeface="Calibri"/>
              </a:rPr>
              <a:t> 8.3%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20440" y="2313432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C7293"/>
                </a:solidFill>
                <a:latin typeface="Calibri"/>
              </a:rPr>
              <a:t> 2.1%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2313432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DC2626"/>
                </a:solidFill>
                <a:latin typeface="Calibri"/>
              </a:rPr>
              <a:t> -6.2pp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" y="2743200"/>
            <a:ext cx="548640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2816352"/>
            <a:ext cx="16916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China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23160" y="2816352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65A82"/>
                </a:solidFill>
                <a:latin typeface="Calibri"/>
              </a:rPr>
              <a:t> 8.0%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20440" y="2816352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C7293"/>
                </a:solidFill>
                <a:latin typeface="Calibri"/>
              </a:rPr>
              <a:t> 6.1%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0" y="2816352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D97706"/>
                </a:solidFill>
                <a:latin typeface="Calibri"/>
              </a:rPr>
              <a:t> -1.9pp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3246120"/>
            <a:ext cx="5486400" cy="4754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" y="3319272"/>
            <a:ext cx="16916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Germany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23160" y="3319272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65A82"/>
                </a:solidFill>
                <a:latin typeface="Calibri"/>
              </a:rPr>
              <a:t> 3.4%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20440" y="3319272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C7293"/>
                </a:solidFill>
                <a:latin typeface="Calibri"/>
              </a:rPr>
              <a:t> 1.7%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0" y="3319272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DC2626"/>
                </a:solidFill>
                <a:latin typeface="Calibri"/>
              </a:rPr>
              <a:t> -1.7pp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3749039"/>
            <a:ext cx="548640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" y="3822191"/>
            <a:ext cx="16916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Ireland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423160" y="3822191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65A82"/>
                </a:solidFill>
                <a:latin typeface="Calibri"/>
              </a:rPr>
              <a:t> 2.4%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20440" y="3822191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C7293"/>
                </a:solidFill>
                <a:latin typeface="Calibri"/>
              </a:rPr>
              <a:t> 2.3%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0" y="3822191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64748B"/>
                </a:solidFill>
                <a:latin typeface="Calibri"/>
              </a:rPr>
              <a:t> -0.1pp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" y="4251960"/>
            <a:ext cx="5486400" cy="4754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4360" y="4325112"/>
            <a:ext cx="16916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Japan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23160" y="4325112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65A82"/>
                </a:solidFill>
                <a:latin typeface="Calibri"/>
              </a:rPr>
              <a:t> 1.4%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20440" y="4325112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C7293"/>
                </a:solidFill>
                <a:latin typeface="Calibri"/>
              </a:rPr>
              <a:t> 1.3%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0" y="4325112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64748B"/>
                </a:solidFill>
                <a:latin typeface="Calibri"/>
              </a:rPr>
              <a:t> -0.1pp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11480" y="4754880"/>
            <a:ext cx="548640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94360" y="4828032"/>
            <a:ext cx="16916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India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423160" y="4828032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65A82"/>
                </a:solidFill>
                <a:latin typeface="Calibri"/>
              </a:rPr>
              <a:t> 1.3%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20440" y="4828032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C7293"/>
                </a:solidFill>
                <a:latin typeface="Calibri"/>
              </a:rPr>
              <a:t> 1.7%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72000" y="4828032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59669"/>
                </a:solidFill>
                <a:latin typeface="Calibri"/>
              </a:rPr>
              <a:t> +0.4pp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11480" y="5257800"/>
            <a:ext cx="5486400" cy="4754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94360" y="5330952"/>
            <a:ext cx="16916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Korea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423160" y="5330952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65A82"/>
                </a:solidFill>
                <a:latin typeface="Calibri"/>
              </a:rPr>
              <a:t> 1.2%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520440" y="5330952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C7293"/>
                </a:solidFill>
                <a:latin typeface="Calibri"/>
              </a:rPr>
              <a:t> 1.2%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572000" y="5330952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64748B"/>
                </a:solidFill>
                <a:latin typeface="Calibri"/>
              </a:rPr>
              <a:t>  stable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263640" y="914400"/>
            <a:ext cx="5577840" cy="2377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263640" y="914400"/>
            <a:ext cx="54864" cy="237744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92240" y="960120"/>
            <a:ext cx="51206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65A82"/>
                </a:solidFill>
                <a:latin typeface="Calibri"/>
              </a:rPr>
              <a:t>Content Language Split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92240" y="141732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293B"/>
                </a:solidFill>
                <a:latin typeface="Calibri"/>
              </a:rPr>
              <a:t>English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492240" y="1764792"/>
            <a:ext cx="51206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Jan: 86.8%  |  Feb: 87.8%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92240" y="201168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C7293"/>
                </a:solidFill>
                <a:latin typeface="Calibri"/>
              </a:rPr>
              <a:t>PPV: 2.25 → 2.09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92240" y="228600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293B"/>
                </a:solidFill>
                <a:latin typeface="Calibri"/>
              </a:rPr>
              <a:t>CJK (CN/JP/KR)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492240" y="2633472"/>
            <a:ext cx="51206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Jan: 12.7%  |  Feb: 11.2%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492240" y="288036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C7293"/>
                </a:solidFill>
                <a:latin typeface="Calibri"/>
              </a:rPr>
              <a:t>PPV: 2.07 → 1.88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263640" y="3520440"/>
            <a:ext cx="5577840" cy="242316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263640" y="3520440"/>
            <a:ext cx="5577840" cy="6400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446520" y="3611880"/>
            <a:ext cx="52120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5A623"/>
                </a:solidFill>
                <a:latin typeface="Calibri"/>
              </a:rPr>
              <a:t>APAC Opportunity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446520" y="4069080"/>
            <a:ext cx="521208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•  China has 2nd highest PVs but shrinking share (-1.9pp)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446520" y="4453128"/>
            <a:ext cx="521208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•  Chinese homepage (主页) shows high repeat visits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446520" y="4837176"/>
            <a:ext cx="521208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•  CJK content PPV (2.07) ≈ English (2.25) — high quality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446520" y="5221224"/>
            <a:ext cx="521208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•  Solidigm CN localized pages grew +76% MoM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446520" y="5605272"/>
            <a:ext cx="521208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•  → Invest in APAC content expansion NOW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20040" y="6199632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DC2626"/>
                </a:solidFill>
                <a:latin typeface="Calibri"/>
              </a:rPr>
              <a:t>UK dropped from 8.3% → 2.1% — investigate traffic source change or campaign pause in EMEA.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77295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Deep-Dive: User Behavior Patterns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27729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CADCFC"/>
                </a:solidFill>
                <a:latin typeface="Calibri"/>
              </a:rPr>
              <a:t>How visitors engage, where they go, and what it means for your B2B funnel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14400"/>
            <a:ext cx="5623560" cy="2724912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914400"/>
            <a:ext cx="5623560" cy="64008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005840"/>
            <a:ext cx="52120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C7293"/>
                </a:solidFill>
                <a:latin typeface="Calibri"/>
              </a:rPr>
              <a:t>Engagement Funnel (Feb)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46304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F5A623"/>
                </a:solidFill>
                <a:latin typeface="Calibri"/>
              </a:rPr>
              <a:t>64-66%  bounce on 1st page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755648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17.5%   read 2 pages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048256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 6.4%   read 3 pages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340864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 8.1%   read 4-5 pages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633472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 3.1%   read 6-10 pages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292608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059669"/>
                </a:solidFill>
                <a:latin typeface="Calibri"/>
              </a:rPr>
              <a:t> 1.6%   read 11+ pages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3218688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→ 35% of visitors are genuinely engaged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80760" y="914400"/>
            <a:ext cx="5623560" cy="2724912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080760" y="914400"/>
            <a:ext cx="5623560" cy="64008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63640" y="1005840"/>
            <a:ext cx="52120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65A82"/>
                </a:solidFill>
                <a:latin typeface="Calibri"/>
              </a:rPr>
              <a:t>Visitor Loyalty (Visit #)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146304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F5A623"/>
                </a:solidFill>
                <a:latin typeface="Calibri"/>
              </a:rPr>
              <a:t>2.6%   First visit (new)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1755648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42.1%  2nd visit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3640" y="2048256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059669"/>
                </a:solidFill>
                <a:latin typeface="Calibri"/>
              </a:rPr>
              <a:t>52.7%  6th+ visit (loyal)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2340864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2.5%   9th visit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63640" y="2633472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→ 95% are returning visitors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292608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→ Strong brand stickiness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63640" y="3218688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D97706"/>
                </a:solidFill>
                <a:latin typeface="Calibri"/>
              </a:rPr>
              <a:t>→ Acquisition is the weak link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040" y="3840480"/>
            <a:ext cx="5623560" cy="2724912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20040" y="3840480"/>
            <a:ext cx="5623560" cy="6400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3931920"/>
            <a:ext cx="52120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5A623"/>
                </a:solidFill>
                <a:latin typeface="Calibri"/>
              </a:rPr>
              <a:t>High-Engagement Journey (5+pg)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438912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① Solidigm Data Storage Solutions (entry)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4681728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② AI Storage (product discovery)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4974336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③ Our Story (trust building)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5266944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④ Edge Storage / D5-P5336 (evaluation)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5559552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059669"/>
                </a:solidFill>
                <a:latin typeface="Calibri"/>
              </a:rPr>
              <a:t>⑤ Where to Buy (purchase intent)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585216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→ 5-step B2B consideration path identified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80760" y="3840480"/>
            <a:ext cx="5623560" cy="2724912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080760" y="3840480"/>
            <a:ext cx="5623560" cy="64008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63640" y="3931920"/>
            <a:ext cx="52120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C7293"/>
                </a:solidFill>
                <a:latin typeface="Calibri"/>
              </a:rPr>
              <a:t>Hourly &amp; Weekly Patterns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63640" y="438912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JAN peak: midnight UTC (APAC traffic)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63640" y="4681728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FEB peak: 07:00 UTC (EU/US morning)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63640" y="4974336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JAN top day: Friday (85,836 PVs)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63640" y="5266944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FEB top day: Tuesday (75,535 PVs)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63640" y="5559552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Weekend traffic: ~18% of weekly PVs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63640" y="585216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059669"/>
                </a:solidFill>
                <a:latin typeface="Calibri"/>
              </a:rPr>
              <a:t>→ B2B buyers are active Tue-Fri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77295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Strategic Recommendations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27729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CADCFC"/>
                </a:solidFill>
                <a:latin typeface="Calibri"/>
              </a:rPr>
              <a:t>6 data-driven priorities — each with clear reasoning and expected impact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60120"/>
            <a:ext cx="5669280" cy="16642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960120"/>
            <a:ext cx="502920" cy="1664208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9184" y="1371600"/>
            <a:ext cx="475488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P1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014984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E293B"/>
                </a:solidFill>
                <a:latin typeface="Calibri"/>
              </a:rPr>
              <a:t>Fix Paid &amp; Display Channel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435608"/>
            <a:ext cx="49377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Amazon Ads has 99.3% bounce. DoubleClick: 73-77%. Stop spend or rebuild landing pages to match ad intent.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258568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DC2626"/>
                </a:solidFill>
                <a:latin typeface="Calibri"/>
              </a:rPr>
              <a:t>&gt;&gt; Budget saved, ROI improved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960120"/>
            <a:ext cx="5669280" cy="16642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63640" y="960120"/>
            <a:ext cx="502920" cy="1664208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72783" y="1371600"/>
            <a:ext cx="475488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P2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1014984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E293B"/>
                </a:solidFill>
                <a:latin typeface="Calibri"/>
              </a:rPr>
              <a:t>Double Down on Organic SEO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1435608"/>
            <a:ext cx="49377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Google bounce rate is only 46-48% — best traffic quality. Create more AI/Edge storage content clusters.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2258568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C7293"/>
                </a:solidFill>
                <a:latin typeface="Calibri"/>
              </a:rPr>
              <a:t>&gt;&gt; Lower CPA, sustainable growth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2724912"/>
            <a:ext cx="5669280" cy="16642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0040" y="2724912"/>
            <a:ext cx="502920" cy="166420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9184" y="3136392"/>
            <a:ext cx="475488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P3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2779776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E293B"/>
                </a:solidFill>
                <a:latin typeface="Calibri"/>
              </a:rPr>
              <a:t>Mobile UX Optimization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3200400"/>
            <a:ext cx="49377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Mobile is now 46% of traffic (up from 36%) but lags desktop in PPV (1.81 vs 2.17). Speed test + CTA audit.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4023360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D97706"/>
                </a:solidFill>
                <a:latin typeface="Calibri"/>
              </a:rPr>
              <a:t>&gt;&gt; +10% mobile engagement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63640" y="2724912"/>
            <a:ext cx="5669280" cy="16642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63640" y="2724912"/>
            <a:ext cx="502920" cy="1664208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72783" y="3136392"/>
            <a:ext cx="475488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P4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0" y="2779776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E293B"/>
                </a:solidFill>
                <a:latin typeface="Calibri"/>
              </a:rPr>
              <a:t>Amplify Our Story Page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0" y="3200400"/>
            <a:ext cx="49377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Feb surged +343% in PVs — but engagement rate dropped to 40.4%. Add video, social proof, and explicit CTAs.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0" y="4023360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065A82"/>
                </a:solidFill>
                <a:latin typeface="Calibri"/>
              </a:rPr>
              <a:t>&gt;&gt; Convert brand-curious → pipeline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" y="4489704"/>
            <a:ext cx="5669280" cy="16642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20040" y="4489704"/>
            <a:ext cx="502920" cy="166420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29184" y="4901184"/>
            <a:ext cx="475488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P5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4544568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E293B"/>
                </a:solidFill>
                <a:latin typeface="Calibri"/>
              </a:rPr>
              <a:t>Expand APAC / Chinese Content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" y="4965192"/>
            <a:ext cx="49377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CN pages grew +76% MoM. Chinese-locale visitors show PPV matching English despite smaller content library.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" y="5788152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059669"/>
                </a:solidFill>
                <a:latin typeface="Calibri"/>
              </a:rPr>
              <a:t>&gt;&gt; Unlock high-quality APAC traffic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63640" y="4489704"/>
            <a:ext cx="5669280" cy="16642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263640" y="4489704"/>
            <a:ext cx="502920" cy="166420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72783" y="4901184"/>
            <a:ext cx="475488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P6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58000" y="4544568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E293B"/>
                </a:solidFill>
                <a:latin typeface="Calibri"/>
              </a:rPr>
              <a:t>Investigate UK Traffic Drop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58000" y="4965192"/>
            <a:ext cx="49377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UK dropped from 8.3% to 2.1% of traffic in one month. Check if a campaign ended or referral source was removed.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58000" y="5788152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5A623"/>
                </a:solidFill>
                <a:latin typeface="Calibri"/>
              </a:rPr>
              <a:t>&gt;&gt; Recover 6pp of lost reach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91440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Calibri"/>
              </a:rPr>
              <a:t>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CADCFC"/>
                </a:solidFill>
                <a:latin typeface="Calibri"/>
              </a:rPr>
              <a:t>From insights to action — prioritized 30/60/90-day roadmap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828800"/>
            <a:ext cx="10515600" cy="36576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965960"/>
            <a:ext cx="3611880" cy="4114800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965960"/>
            <a:ext cx="3611880" cy="73152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057400"/>
            <a:ext cx="33375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5A623"/>
                </a:solidFill>
                <a:latin typeface="Calibri"/>
              </a:rPr>
              <a:t>30 DAYS</a:t>
            </a:r>
            <a:br/>
            <a:r>
              <a:t>(Quick Wins)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788920"/>
            <a:ext cx="33375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→  Stop Amazon Ads — 99.3% bounce, zero ROI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474720"/>
            <a:ext cx="33375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→  Add UTM tags to all campaign links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160520"/>
            <a:ext cx="33375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→  Filter bot traffic in your analytics dashboard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846320"/>
            <a:ext cx="33375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→  Add related-content CTA blocks on AI Storage page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53712" y="1965960"/>
            <a:ext cx="3611880" cy="4114800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53712" y="1965960"/>
            <a:ext cx="3611880" cy="73152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90872" y="2057400"/>
            <a:ext cx="33375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CADCFC"/>
                </a:solidFill>
                <a:latin typeface="Calibri"/>
              </a:rPr>
              <a:t>60 DAYS</a:t>
            </a:r>
            <a:br/>
            <a:r>
              <a:t>(Structural Fixes)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90872" y="2788920"/>
            <a:ext cx="33375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→  Rebuild paid display landing pages (aligned to ad)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90872" y="3474720"/>
            <a:ext cx="33375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→  Mobile speed audit + CTA redesign for mobile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90872" y="4160520"/>
            <a:ext cx="33375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→  Add video + social proof to Our-Story page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90872" y="4846320"/>
            <a:ext cx="33375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→  Launch Chinese content expansion plan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375904" y="1965960"/>
            <a:ext cx="3611880" cy="4114800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375904" y="1965960"/>
            <a:ext cx="3611880" cy="7315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13064" y="2057400"/>
            <a:ext cx="33375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059669"/>
                </a:solidFill>
                <a:latin typeface="Calibri"/>
              </a:rPr>
              <a:t>90 DAYS</a:t>
            </a:r>
            <a:br/>
            <a:r>
              <a:t>(Growth Programs)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13064" y="2788920"/>
            <a:ext cx="33375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→  SEO content sprint: AI/Edge storage keyword clusters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13064" y="3474720"/>
            <a:ext cx="33375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→  Formalise Content→Product→Buy navigation path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13064" y="4160520"/>
            <a:ext cx="33375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→  Investigate and recover UK/EMEA traffic sources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13064" y="4846320"/>
            <a:ext cx="33375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→  Implement heatmaps on top 5 pages (Hotjar/MS Clarity)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6492240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Data source: dotcom_analytics_jan2026.xlsx &amp; dotcom_analytics_feb2026.xlsx  |  Analysis: March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