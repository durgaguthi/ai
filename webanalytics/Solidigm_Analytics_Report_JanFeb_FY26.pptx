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29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91440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SOLIDIGM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91640"/>
            <a:ext cx="914400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0" i="0">
                <a:solidFill>
                  <a:srgbClr val="CADCFC"/>
                </a:solidFill>
                <a:latin typeface="Calibri"/>
              </a:rPr>
              <a:t>Website Analytics Report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331720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0" i="0">
                <a:solidFill>
                  <a:srgbClr val="9AB0CC"/>
                </a:solidFill>
                <a:latin typeface="Calibri"/>
              </a:rPr>
              <a:t>January vs February FY2026  |  B2B Digital Marketing Deep-Dive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880360"/>
            <a:ext cx="8686800" cy="36576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3108960"/>
            <a:ext cx="29260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F5A623"/>
                </a:solidFill>
                <a:latin typeface="Calibri"/>
              </a:rPr>
              <a:t>818K+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11880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CADCFC"/>
                </a:solidFill>
                <a:latin typeface="Calibri"/>
              </a:rPr>
              <a:t>Page Views Analyzed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31920" y="3108960"/>
            <a:ext cx="29260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F5A623"/>
                </a:solidFill>
                <a:latin typeface="Calibri"/>
              </a:rPr>
              <a:t>~388K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3611880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CADCFC"/>
                </a:solidFill>
                <a:latin typeface="Calibri"/>
              </a:rPr>
              <a:t>Unique Visitors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0" y="3108960"/>
            <a:ext cx="29260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F5A623"/>
                </a:solidFill>
                <a:latin typeface="Calibri"/>
              </a:rPr>
              <a:t>11%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0" y="3611880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CADCFC"/>
                </a:solidFill>
                <a:latin typeface="Calibri"/>
              </a:rPr>
              <a:t>Bot Traffic Removed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6217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Prepared for: Digital Marketing Leadership  |  March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04672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73152"/>
            <a:ext cx="82296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Executive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93776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CADCFC"/>
                </a:solidFill>
                <a:latin typeface="Calibri"/>
              </a:rPr>
              <a:t>Jan vs Feb FY2026  |  solidigm.com  |  B2B Digital Marketing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914400"/>
            <a:ext cx="5440680" cy="5166360"/>
          </a:xfrm>
          <a:prstGeom prst="rect">
            <a:avLst/>
          </a:prstGeom>
          <a:solidFill>
            <a:srgbClr val="1E3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20040" y="914400"/>
            <a:ext cx="5440680" cy="64008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005840"/>
            <a:ext cx="512064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C7293"/>
                </a:solidFill>
                <a:latin typeface="Calibri"/>
              </a:rPr>
              <a:t>What Happened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463040"/>
            <a:ext cx="5257800" cy="1389888"/>
          </a:xfrm>
          <a:prstGeom prst="rect">
            <a:avLst/>
          </a:prstGeom>
          <a:solidFill>
            <a:srgbClr val="152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11480" y="1463040"/>
            <a:ext cx="64008" cy="1389888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536192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C7293"/>
                </a:solidFill>
                <a:latin typeface="Calibri"/>
              </a:rPr>
              <a:t>Traffic stayed flat — by design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1938528"/>
            <a:ext cx="47548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Calibri"/>
              </a:rPr>
              <a:t>Total PVs dipped -6.6% (423K→395K) but avg daily PVs actually grew +3.4% after adjusting for Feb's 3 fewer days. Non-Paid traffic held at 84% share; Paid nearly doubled its share 9.9%→15.8%.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3017520"/>
            <a:ext cx="5257800" cy="1389888"/>
          </a:xfrm>
          <a:prstGeom prst="rect">
            <a:avLst/>
          </a:prstGeom>
          <a:solidFill>
            <a:srgbClr val="152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" y="3017520"/>
            <a:ext cx="64008" cy="1389888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3090672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5A623"/>
                </a:solidFill>
                <a:latin typeface="Calibri"/>
              </a:rPr>
              <a:t>Our Story page broke out — massively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3493008"/>
            <a:ext cx="47548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Calibri"/>
              </a:rPr>
              <a:t>our-story.html surged from 514 to 31,990 PVs (+6,122%) in Feb — now the #4 page on the site. 89% of visits were Non-Paid, confirming organic brand curiosity. Visitors flow directly into product pages.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1480" y="4572000"/>
            <a:ext cx="5257800" cy="1389888"/>
          </a:xfrm>
          <a:prstGeom prst="rect">
            <a:avLst/>
          </a:prstGeom>
          <a:solidFill>
            <a:srgbClr val="152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11480" y="4572000"/>
            <a:ext cx="64008" cy="1389888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4645152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DC2626"/>
                </a:solidFill>
                <a:latin typeface="Calibri"/>
              </a:rPr>
              <a:t>Bounce rate pressure is rising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5047488"/>
            <a:ext cx="47548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Calibri"/>
              </a:rPr>
              <a:t>Overall bounce rose +3.3pp to 64.3%. Paid-Display BR is stuck at ~70% with no improvement. Non-Paid BR climbed +3.8pp. UK traffic collapsed from 9.2%→2.4% — an EMEA issue requiring urgent investigation.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989320" y="914400"/>
            <a:ext cx="5879592" cy="5166360"/>
          </a:xfrm>
          <a:prstGeom prst="rect">
            <a:avLst/>
          </a:prstGeom>
          <a:solidFill>
            <a:srgbClr val="1E3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989320" y="914400"/>
            <a:ext cx="5879592" cy="64008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72200" y="1005840"/>
            <a:ext cx="54864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5A623"/>
                </a:solidFill>
                <a:latin typeface="Calibri"/>
              </a:rPr>
              <a:t>Top 6 Priorities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080760" y="1481328"/>
            <a:ext cx="5696712" cy="713232"/>
          </a:xfrm>
          <a:prstGeom prst="rect">
            <a:avLst/>
          </a:prstGeom>
          <a:solidFill>
            <a:srgbClr val="152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080760" y="1481328"/>
            <a:ext cx="438912" cy="713232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89904" y="1645920"/>
            <a:ext cx="420624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P1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01968" y="1536192"/>
            <a:ext cx="48463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DC2626"/>
                </a:solidFill>
                <a:latin typeface="Calibri"/>
              </a:rPr>
              <a:t>Fix Paid / Display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01968" y="1847088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CADCFC"/>
                </a:solidFill>
                <a:latin typeface="Calibri"/>
              </a:rPr>
              <a:t>BR 70.6% — rebuild landing pages or cut spend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080760" y="2286000"/>
            <a:ext cx="5696712" cy="713232"/>
          </a:xfrm>
          <a:prstGeom prst="rect">
            <a:avLst/>
          </a:prstGeom>
          <a:solidFill>
            <a:srgbClr val="152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080760" y="2286000"/>
            <a:ext cx="438912" cy="713232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089904" y="2450592"/>
            <a:ext cx="420624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P2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01968" y="2340864"/>
            <a:ext cx="48463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C7293"/>
                </a:solidFill>
                <a:latin typeface="Calibri"/>
              </a:rPr>
              <a:t>Double-down on Organic SEO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01968" y="2651760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CADCFC"/>
                </a:solidFill>
                <a:latin typeface="Calibri"/>
              </a:rPr>
              <a:t>BR 48.5% — best quality; invest in AI/Edge content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080760" y="3090672"/>
            <a:ext cx="5696712" cy="713232"/>
          </a:xfrm>
          <a:prstGeom prst="rect">
            <a:avLst/>
          </a:prstGeom>
          <a:solidFill>
            <a:srgbClr val="152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080760" y="3090672"/>
            <a:ext cx="438912" cy="71323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089904" y="3255264"/>
            <a:ext cx="420624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P3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601968" y="3145536"/>
            <a:ext cx="48463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D97706"/>
                </a:solidFill>
                <a:latin typeface="Calibri"/>
              </a:rPr>
              <a:t>Mobile UX Audit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01968" y="3456432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CADCFC"/>
                </a:solidFill>
                <a:latin typeface="Calibri"/>
              </a:rPr>
              <a:t>52.6% of traffic; PPV lags desktop (1.79 vs 2.17)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80760" y="3895344"/>
            <a:ext cx="5696712" cy="713232"/>
          </a:xfrm>
          <a:prstGeom prst="rect">
            <a:avLst/>
          </a:prstGeom>
          <a:solidFill>
            <a:srgbClr val="152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080760" y="3895344"/>
            <a:ext cx="438912" cy="713232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089904" y="4059935"/>
            <a:ext cx="420624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P4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01968" y="3950207"/>
            <a:ext cx="48463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065A82"/>
                </a:solidFill>
                <a:latin typeface="Calibri"/>
              </a:rPr>
              <a:t>Amplify Our Story page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601968" y="4261104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CADCFC"/>
                </a:solidFill>
                <a:latin typeface="Calibri"/>
              </a:rPr>
              <a:t>39.5% multi-page rate — add video + CTAs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080760" y="4700016"/>
            <a:ext cx="5696712" cy="713232"/>
          </a:xfrm>
          <a:prstGeom prst="rect">
            <a:avLst/>
          </a:prstGeom>
          <a:solidFill>
            <a:srgbClr val="152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080760" y="4700016"/>
            <a:ext cx="438912" cy="71323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089904" y="4864608"/>
            <a:ext cx="420624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P5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601968" y="4754880"/>
            <a:ext cx="48463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059669"/>
                </a:solidFill>
                <a:latin typeface="Calibri"/>
              </a:rPr>
              <a:t>Investigate EMEA collapse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601968" y="5065776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CADCFC"/>
                </a:solidFill>
                <a:latin typeface="Calibri"/>
              </a:rPr>
              <a:t>UK -6.8pp + Germany -1.8pp in one month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080760" y="5504688"/>
            <a:ext cx="5696712" cy="713232"/>
          </a:xfrm>
          <a:prstGeom prst="rect">
            <a:avLst/>
          </a:prstGeom>
          <a:solidFill>
            <a:srgbClr val="152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080760" y="5504688"/>
            <a:ext cx="438912" cy="713232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089904" y="5669280"/>
            <a:ext cx="420624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P6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601968" y="5559552"/>
            <a:ext cx="48463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F5A623"/>
                </a:solidFill>
                <a:latin typeface="Calibri"/>
              </a:rPr>
              <a:t>Fix attribution / UTMs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601968" y="5870448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CADCFC"/>
                </a:solidFill>
                <a:latin typeface="Calibri"/>
              </a:rPr>
              <a:t>Direct dropped -13.3pp — dark social blindspot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20040" y="6236208"/>
            <a:ext cx="115214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64748B"/>
                </a:solidFill>
                <a:latin typeface="Calibri"/>
              </a:rPr>
              <a:t>Data filtered to www.solidigm.com only  |  Bots removed  |  Paid = Paid-Display channel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04672"/>
          </a:xfrm>
          <a:prstGeom prst="rect">
            <a:avLst/>
          </a:prstGeom>
          <a:solidFill>
            <a:srgbClr val="7F10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73152"/>
            <a:ext cx="9144000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P1 Deep-Dive: Fix Paid / Display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0292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ADCFC"/>
                </a:solidFill>
                <a:latin typeface="Calibri"/>
              </a:rPr>
              <a:t>Paid-Display spend grew +49% MoM — but Bounce Rate did not improve. Root-cause diagnosis across 4 sub-channels.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914400"/>
            <a:ext cx="2834640" cy="2743200"/>
          </a:xfrm>
          <a:prstGeom prst="rect">
            <a:avLst/>
          </a:prstGeom>
          <a:solidFill>
            <a:srgbClr val="1E3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20040" y="914400"/>
            <a:ext cx="2834640" cy="6400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005840"/>
            <a:ext cx="25603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Google Display</a:t>
            </a:r>
            <a:br/>
            <a:r>
              <a:t>Network (GDN)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72768"/>
            <a:ext cx="25603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64748B"/>
                </a:solidFill>
                <a:latin typeface="Calibri"/>
              </a:rPr>
              <a:t>googlesyndication.com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828800"/>
            <a:ext cx="457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CADCFC"/>
                </a:solidFill>
                <a:latin typeface="Calibri"/>
              </a:rPr>
              <a:t>PVs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828800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CADCFC"/>
                </a:solidFill>
                <a:latin typeface="Calibri"/>
              </a:rPr>
              <a:t>Jan 24,116  →  Feb 34,686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103120"/>
            <a:ext cx="457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CADCFC"/>
                </a:solidFill>
                <a:latin typeface="Calibri"/>
              </a:rPr>
              <a:t>BR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03120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CADCFC"/>
                </a:solidFill>
                <a:latin typeface="Calibri"/>
              </a:rPr>
              <a:t>Jan 68.4%  →  Feb 72.8%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59152"/>
            <a:ext cx="25603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D97706"/>
                </a:solidFill>
                <a:latin typeface="Calibri"/>
              </a:rPr>
              <a:t>worse +4.4pp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0040" y="2999232"/>
            <a:ext cx="2834640" cy="59436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9768" y="3044952"/>
            <a:ext cx="26517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Scale cautiously — fix landing pages first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91840" y="914400"/>
            <a:ext cx="2834640" cy="2743200"/>
          </a:xfrm>
          <a:prstGeom prst="rect">
            <a:avLst/>
          </a:prstGeom>
          <a:solidFill>
            <a:srgbClr val="1E3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291840" y="914400"/>
            <a:ext cx="2834640" cy="64008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29000" y="1005840"/>
            <a:ext cx="25603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DoubleClick /</a:t>
            </a:r>
            <a:br/>
            <a:r>
              <a:t>DV360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29000" y="1572768"/>
            <a:ext cx="25603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64748B"/>
                </a:solidFill>
                <a:latin typeface="Calibri"/>
              </a:rPr>
              <a:t>doubleclick.net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29000" y="1828800"/>
            <a:ext cx="457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CADCFC"/>
                </a:solidFill>
                <a:latin typeface="Calibri"/>
              </a:rPr>
              <a:t>PVs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49039" y="1828800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CADCFC"/>
                </a:solidFill>
                <a:latin typeface="Calibri"/>
              </a:rPr>
              <a:t>Jan 17,190  →  Feb 27,216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29000" y="2103120"/>
            <a:ext cx="457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CADCFC"/>
                </a:solidFill>
                <a:latin typeface="Calibri"/>
              </a:rPr>
              <a:t>BR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49039" y="2103120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CADCFC"/>
                </a:solidFill>
                <a:latin typeface="Calibri"/>
              </a:rPr>
              <a:t>Jan 71.3%  →  Feb 66.9%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29000" y="2359152"/>
            <a:ext cx="25603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059669"/>
                </a:solidFill>
                <a:latin typeface="Calibri"/>
              </a:rPr>
              <a:t>improving -4.4pp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91840" y="2999232"/>
            <a:ext cx="2834640" cy="5943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401568" y="3044952"/>
            <a:ext cx="26517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Only bright spot — understand &amp; replicate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63640" y="914400"/>
            <a:ext cx="2834640" cy="2743200"/>
          </a:xfrm>
          <a:prstGeom prst="rect">
            <a:avLst/>
          </a:prstGeom>
          <a:solidFill>
            <a:srgbClr val="1E3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63640" y="914400"/>
            <a:ext cx="2834640" cy="64008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0" y="1005840"/>
            <a:ext cx="25603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Amazon Ad</a:t>
            </a:r>
            <a:br/>
            <a:r>
              <a:t>System (AAX)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1572768"/>
            <a:ext cx="25603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64748B"/>
                </a:solidFill>
                <a:latin typeface="Calibri"/>
              </a:rPr>
              <a:t>amazon-adsystem.com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1828800"/>
            <a:ext cx="457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CADCFC"/>
                </a:solidFill>
                <a:latin typeface="Calibri"/>
              </a:rPr>
              <a:t>PVs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720840" y="1828800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CADCFC"/>
                </a:solidFill>
                <a:latin typeface="Calibri"/>
              </a:rPr>
              <a:t>Jan 595  →  Feb 505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0" y="2103120"/>
            <a:ext cx="457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CADCFC"/>
                </a:solidFill>
                <a:latin typeface="Calibri"/>
              </a:rPr>
              <a:t>BR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20840" y="2103120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CADCFC"/>
                </a:solidFill>
                <a:latin typeface="Calibri"/>
              </a:rPr>
              <a:t>Jan 99.3%  →  Feb 99.2%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0" y="2359152"/>
            <a:ext cx="25603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DC2626"/>
                </a:solidFill>
                <a:latin typeface="Calibri"/>
              </a:rPr>
              <a:t>no change — still 99%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263640" y="2999232"/>
            <a:ext cx="2834640" cy="59436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73368" y="3044952"/>
            <a:ext cx="26517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Pause immediately — confirmed waste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235440" y="914400"/>
            <a:ext cx="2834640" cy="2743200"/>
          </a:xfrm>
          <a:prstGeom prst="rect">
            <a:avLst/>
          </a:prstGeom>
          <a:solidFill>
            <a:srgbClr val="1E3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235440" y="914400"/>
            <a:ext cx="2834640" cy="64008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372600" y="1005840"/>
            <a:ext cx="25603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Google</a:t>
            </a:r>
            <a:br/>
            <a:r>
              <a:t>AdServices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72600" y="1572768"/>
            <a:ext cx="25603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64748B"/>
                </a:solidFill>
                <a:latin typeface="Calibri"/>
              </a:rPr>
              <a:t>googleadservices.com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372600" y="1828800"/>
            <a:ext cx="457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CADCFC"/>
                </a:solidFill>
                <a:latin typeface="Calibri"/>
              </a:rPr>
              <a:t>PVs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92640" y="1828800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CADCFC"/>
                </a:solidFill>
                <a:latin typeface="Calibri"/>
              </a:rPr>
              <a:t>Jan 39  →  Feb 23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372600" y="2103120"/>
            <a:ext cx="457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CADCFC"/>
                </a:solidFill>
                <a:latin typeface="Calibri"/>
              </a:rPr>
              <a:t>BR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692640" y="2103120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CADCFC"/>
                </a:solidFill>
                <a:latin typeface="Calibri"/>
              </a:rPr>
              <a:t>Jan 94.6%  →  Feb 100.0%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372600" y="2359152"/>
            <a:ext cx="25603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DC2626"/>
                </a:solidFill>
                <a:latin typeface="Calibri"/>
              </a:rPr>
              <a:t>worse — 100% in Feb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235440" y="2999232"/>
            <a:ext cx="2834640" cy="59436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345167" y="3044952"/>
            <a:ext cx="26517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Pause — zero engagement both months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20040" y="3703320"/>
            <a:ext cx="5943600" cy="2377440"/>
          </a:xfrm>
          <a:prstGeom prst="rect">
            <a:avLst/>
          </a:prstGeom>
          <a:solidFill>
            <a:srgbClr val="1E3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320040" y="3703320"/>
            <a:ext cx="5943600" cy="6400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02920" y="3785615"/>
            <a:ext cx="55778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D97706"/>
                </a:solidFill>
                <a:latin typeface="Calibri"/>
              </a:rPr>
              <a:t>Paid Traffic Bounce Rate by Landing Page (Feb)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02920" y="4133087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CADCFC"/>
                </a:solidFill>
                <a:latin typeface="Calibri"/>
              </a:rPr>
              <a:t>Landing Page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069080" y="4133087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CADCFC"/>
                </a:solidFill>
                <a:latin typeface="Calibri"/>
              </a:rPr>
              <a:t>Paid PVs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029200" y="4133087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CADCFC"/>
                </a:solidFill>
                <a:latin typeface="Calibri"/>
              </a:rPr>
              <a:t>BR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806440" y="4133087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CADCFC"/>
                </a:solidFill>
                <a:latin typeface="Calibri"/>
              </a:rPr>
              <a:t>vs Site Avg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11480" y="4114800"/>
            <a:ext cx="5760720" cy="36576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411480" y="4187952"/>
            <a:ext cx="5760720" cy="338328"/>
          </a:xfrm>
          <a:prstGeom prst="rect">
            <a:avLst/>
          </a:prstGeom>
          <a:solidFill>
            <a:srgbClr val="152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02920" y="4242816"/>
            <a:ext cx="35204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CADCFC"/>
                </a:solidFill>
                <a:latin typeface="Calibri"/>
              </a:rPr>
              <a:t>Solidigm Data Storage Solutions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069080" y="4242816"/>
            <a:ext cx="914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CADCFC"/>
                </a:solidFill>
                <a:latin typeface="Calibri"/>
              </a:rPr>
              <a:t>22,510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029200" y="4242816"/>
            <a:ext cx="731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DC2626"/>
                </a:solidFill>
                <a:latin typeface="Calibri"/>
              </a:rPr>
              <a:t>76.0%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806440" y="4242816"/>
            <a:ext cx="731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DC2626"/>
                </a:solidFill>
                <a:latin typeface="Calibri"/>
              </a:rPr>
              <a:t>+11.7pp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11480" y="4544568"/>
            <a:ext cx="5760720" cy="338328"/>
          </a:xfrm>
          <a:prstGeom prst="rect">
            <a:avLst/>
          </a:prstGeom>
          <a:solidFill>
            <a:srgbClr val="1E3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02920" y="4599431"/>
            <a:ext cx="35204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CADCFC"/>
                </a:solidFill>
                <a:latin typeface="Calibri"/>
              </a:rPr>
              <a:t>Our Story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069080" y="4599431"/>
            <a:ext cx="914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CADCFC"/>
                </a:solidFill>
                <a:latin typeface="Calibri"/>
              </a:rPr>
              <a:t> 3,380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029200" y="4599431"/>
            <a:ext cx="731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DC2626"/>
                </a:solidFill>
                <a:latin typeface="Calibri"/>
              </a:rPr>
              <a:t>73.4%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806440" y="4599431"/>
            <a:ext cx="731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DC2626"/>
                </a:solidFill>
                <a:latin typeface="Calibri"/>
              </a:rPr>
              <a:t> +9.1pp</a:t>
            </a:r>
          </a:p>
        </p:txBody>
      </p:sp>
      <p:sp>
        <p:nvSpPr>
          <p:cNvPr id="67" name="Rectangle 66"/>
          <p:cNvSpPr/>
          <p:nvPr/>
        </p:nvSpPr>
        <p:spPr>
          <a:xfrm>
            <a:off x="411480" y="4901184"/>
            <a:ext cx="5760720" cy="338328"/>
          </a:xfrm>
          <a:prstGeom prst="rect">
            <a:avLst/>
          </a:prstGeom>
          <a:solidFill>
            <a:srgbClr val="152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02920" y="4956048"/>
            <a:ext cx="35204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CADCFC"/>
                </a:solidFill>
                <a:latin typeface="Calibri"/>
              </a:rPr>
              <a:t>AI Storage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069080" y="4956048"/>
            <a:ext cx="914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CADCFC"/>
                </a:solidFill>
                <a:latin typeface="Calibri"/>
              </a:rPr>
              <a:t>16,730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029200" y="4956048"/>
            <a:ext cx="731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DC2626"/>
                </a:solidFill>
                <a:latin typeface="Calibri"/>
              </a:rPr>
              <a:t>68.9%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806440" y="4956048"/>
            <a:ext cx="731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DC2626"/>
                </a:solidFill>
                <a:latin typeface="Calibri"/>
              </a:rPr>
              <a:t> +4.6pp</a:t>
            </a:r>
          </a:p>
        </p:txBody>
      </p:sp>
      <p:sp>
        <p:nvSpPr>
          <p:cNvPr id="72" name="Rectangle 71"/>
          <p:cNvSpPr/>
          <p:nvPr/>
        </p:nvSpPr>
        <p:spPr>
          <a:xfrm>
            <a:off x="411480" y="5257800"/>
            <a:ext cx="5760720" cy="338328"/>
          </a:xfrm>
          <a:prstGeom prst="rect">
            <a:avLst/>
          </a:prstGeom>
          <a:solidFill>
            <a:srgbClr val="1E3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502920" y="5312664"/>
            <a:ext cx="35204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CADCFC"/>
                </a:solidFill>
                <a:latin typeface="Calibri"/>
              </a:rPr>
              <a:t>Edge Storage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069080" y="5312664"/>
            <a:ext cx="914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CADCFC"/>
                </a:solidFill>
                <a:latin typeface="Calibri"/>
              </a:rPr>
              <a:t>18,330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029200" y="5312664"/>
            <a:ext cx="731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D97706"/>
                </a:solidFill>
                <a:latin typeface="Calibri"/>
              </a:rPr>
              <a:t>65.1%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806440" y="5312664"/>
            <a:ext cx="731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D97706"/>
                </a:solidFill>
                <a:latin typeface="Calibri"/>
              </a:rPr>
              <a:t> +0.8pp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11480" y="5614416"/>
            <a:ext cx="5760720" cy="338328"/>
          </a:xfrm>
          <a:prstGeom prst="rect">
            <a:avLst/>
          </a:prstGeom>
          <a:solidFill>
            <a:srgbClr val="152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502920" y="5669280"/>
            <a:ext cx="35204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CADCFC"/>
                </a:solidFill>
                <a:latin typeface="Calibri"/>
              </a:rPr>
              <a:t>Homepage (direct)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069080" y="5669280"/>
            <a:ext cx="914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CADCFC"/>
                </a:solidFill>
                <a:latin typeface="Calibri"/>
              </a:rPr>
              <a:t>   577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5029200" y="5669280"/>
            <a:ext cx="731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059669"/>
                </a:solidFill>
                <a:latin typeface="Calibri"/>
              </a:rPr>
              <a:t>59.1%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806440" y="5669280"/>
            <a:ext cx="731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059669"/>
                </a:solidFill>
                <a:latin typeface="Calibri"/>
              </a:rPr>
              <a:t> -5.2pp</a:t>
            </a:r>
          </a:p>
        </p:txBody>
      </p:sp>
      <p:sp>
        <p:nvSpPr>
          <p:cNvPr id="82" name="Rectangle 81"/>
          <p:cNvSpPr/>
          <p:nvPr/>
        </p:nvSpPr>
        <p:spPr>
          <a:xfrm>
            <a:off x="6492240" y="3703320"/>
            <a:ext cx="5376672" cy="2377440"/>
          </a:xfrm>
          <a:prstGeom prst="rect">
            <a:avLst/>
          </a:prstGeom>
          <a:solidFill>
            <a:srgbClr val="1E3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6492240" y="3703320"/>
            <a:ext cx="5376672" cy="64008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675120" y="3785615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DC2626"/>
                </a:solidFill>
                <a:latin typeface="Calibri"/>
              </a:rPr>
              <a:t>Data Evidence &amp; Recommended Actions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675120" y="4114800"/>
            <a:ext cx="50292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D97706"/>
                </a:solidFill>
                <a:latin typeface="Calibri"/>
              </a:rPr>
              <a:t>Source in data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675120" y="4315968"/>
            <a:ext cx="50292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CADCFC"/>
                </a:solidFill>
                <a:latin typeface="Calibri"/>
              </a:rPr>
              <a:t>referrer_domain = amazon-adsystem.com | referrer_url = aax.amazon-adsystem.com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675120" y="4498848"/>
            <a:ext cx="50292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D97706"/>
                </a:solidFill>
                <a:latin typeface="Calibri"/>
              </a:rPr>
              <a:t>Amazon AAX UTM tags on landing URLs confirm paid placement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675120" y="4700016"/>
            <a:ext cx="50292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CADCFC"/>
                </a:solidFill>
                <a:latin typeface="Calibri"/>
              </a:rPr>
              <a:t>utm_channel=paidsocial found on Edge Storage &amp; AI Storage URLs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675120" y="4882896"/>
            <a:ext cx="50292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D97706"/>
                </a:solidFill>
                <a:latin typeface="Calibri"/>
              </a:rPr>
              <a:t>Immediate actions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675120" y="5084064"/>
            <a:ext cx="50292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CADCFC"/>
                </a:solidFill>
                <a:latin typeface="Calibri"/>
              </a:rPr>
              <a:t>1. Pause Amazon AAX + Google AdServices — 99-100% BR, &lt;600 UVs/mo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675120" y="5266944"/>
            <a:ext cx="50292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CADCFC"/>
                </a:solidFill>
                <a:latin typeface="Calibri"/>
              </a:rPr>
              <a:t>2. Build paid-specific landing pages for GDN (currently sends to generic hub pages)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675120" y="5650992"/>
            <a:ext cx="50292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CADCFC"/>
                </a:solidFill>
                <a:latin typeface="Calibri"/>
              </a:rPr>
              <a:t>3. Study DoubleClick setup — only channel improving BR (-4.4pp)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20040" y="6236208"/>
            <a:ext cx="115214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1">
                <a:solidFill>
                  <a:srgbClr val="64748B"/>
                </a:solidFill>
                <a:latin typeface="Calibri"/>
              </a:rPr>
              <a:t>Source: dotcom_analytics_jan2026.xlsx &amp; feb2026.xlsx  |  referrer_domain column  |  solidigm.com rows only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77295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Monthly KPI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27729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CADCFC"/>
                </a:solidFill>
                <a:latin typeface="Calibri"/>
              </a:rPr>
              <a:t>Jan FY26  vs  Feb FY26 — cleaned data (bots &amp; junk referrers removed)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868680"/>
            <a:ext cx="5577840" cy="50292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89320" y="868680"/>
            <a:ext cx="5989320" cy="50292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886968"/>
            <a:ext cx="521208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PAID TRAFFIC  (Paid-Display)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0" y="886968"/>
            <a:ext cx="562356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NON-PAID TRAFFIC  (Organic / Direct / Referral / Social)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1444752"/>
            <a:ext cx="5577840" cy="457200"/>
          </a:xfrm>
          <a:prstGeom prst="rect">
            <a:avLst/>
          </a:prstGeom>
          <a:solidFill>
            <a:srgbClr val="E8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1444752"/>
            <a:ext cx="54864" cy="45720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499616"/>
            <a:ext cx="21031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293B"/>
                </a:solidFill>
                <a:latin typeface="Calibri"/>
              </a:rPr>
              <a:t>PV Share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06039" y="1499616"/>
            <a:ext cx="100584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065A82"/>
                </a:solidFill>
                <a:latin typeface="Calibri"/>
              </a:rPr>
              <a:t> 9.9%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0" y="1499616"/>
            <a:ext cx="100584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065A82"/>
                </a:solidFill>
                <a:latin typeface="Calibri"/>
              </a:rPr>
              <a:t>15.8%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09159" y="1499616"/>
            <a:ext cx="10972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DC2626"/>
                </a:solidFill>
                <a:latin typeface="Calibri"/>
              </a:rPr>
              <a:t>+5.9pp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1920240"/>
            <a:ext cx="5577840" cy="457200"/>
          </a:xfrm>
          <a:prstGeom prst="rect">
            <a:avLst/>
          </a:prstGeom>
          <a:solidFill>
            <a:srgbClr val="D4E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74320" y="1920240"/>
            <a:ext cx="54864" cy="45720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1975104"/>
            <a:ext cx="21031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293B"/>
                </a:solidFill>
                <a:latin typeface="Calibri"/>
              </a:rPr>
              <a:t>Unique Visitors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06039" y="1975104"/>
            <a:ext cx="100584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065A82"/>
                </a:solidFill>
                <a:latin typeface="Calibri"/>
              </a:rPr>
              <a:t>23,439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0" y="1975104"/>
            <a:ext cx="100584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065A82"/>
                </a:solidFill>
                <a:latin typeface="Calibri"/>
              </a:rPr>
              <a:t>33,759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09159" y="1975104"/>
            <a:ext cx="10972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DC2626"/>
                </a:solidFill>
                <a:latin typeface="Calibri"/>
              </a:rPr>
              <a:t>+44.0%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" y="2395728"/>
            <a:ext cx="5577840" cy="457200"/>
          </a:xfrm>
          <a:prstGeom prst="rect">
            <a:avLst/>
          </a:prstGeom>
          <a:solidFill>
            <a:srgbClr val="E8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74320" y="2395728"/>
            <a:ext cx="54864" cy="45720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" y="2450592"/>
            <a:ext cx="21031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293B"/>
                </a:solidFill>
                <a:latin typeface="Calibri"/>
              </a:rPr>
              <a:t>Bounce Rate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606039" y="2450592"/>
            <a:ext cx="100584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065A82"/>
                </a:solidFill>
                <a:latin typeface="Calibri"/>
              </a:rPr>
              <a:t>70.0%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0" y="2450592"/>
            <a:ext cx="100584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065A82"/>
                </a:solidFill>
                <a:latin typeface="Calibri"/>
              </a:rPr>
              <a:t>70.6%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09159" y="2450592"/>
            <a:ext cx="10972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DC2626"/>
                </a:solidFill>
                <a:latin typeface="Calibri"/>
              </a:rPr>
              <a:t>+0.6pp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4320" y="2871216"/>
            <a:ext cx="5577840" cy="457200"/>
          </a:xfrm>
          <a:prstGeom prst="rect">
            <a:avLst/>
          </a:prstGeom>
          <a:solidFill>
            <a:srgbClr val="D4E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274320" y="2871216"/>
            <a:ext cx="54864" cy="45720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2920" y="2926080"/>
            <a:ext cx="21031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293B"/>
                </a:solidFill>
                <a:latin typeface="Calibri"/>
              </a:rPr>
              <a:t>Pages/Visit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606039" y="2926080"/>
            <a:ext cx="100584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065A82"/>
                </a:solidFill>
                <a:latin typeface="Calibri"/>
              </a:rPr>
              <a:t>1.79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0" y="2926080"/>
            <a:ext cx="100584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065A82"/>
                </a:solidFill>
                <a:latin typeface="Calibri"/>
              </a:rPr>
              <a:t>1.85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709159" y="2926080"/>
            <a:ext cx="10972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059669"/>
                </a:solidFill>
                <a:latin typeface="Calibri"/>
              </a:rPr>
              <a:t>+0.06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989320" y="1444752"/>
            <a:ext cx="5989320" cy="457200"/>
          </a:xfrm>
          <a:prstGeom prst="rect">
            <a:avLst/>
          </a:prstGeom>
          <a:solidFill>
            <a:srgbClr val="EEF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989320" y="1444752"/>
            <a:ext cx="54864" cy="45720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217920" y="1499616"/>
            <a:ext cx="21031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293B"/>
                </a:solidFill>
                <a:latin typeface="Calibri"/>
              </a:rPr>
              <a:t>PV Share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21040" y="1499616"/>
            <a:ext cx="100584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1C7293"/>
                </a:solidFill>
                <a:latin typeface="Calibri"/>
              </a:rPr>
              <a:t>90.1%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372600" y="1499616"/>
            <a:ext cx="100584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1C7293"/>
                </a:solidFill>
                <a:latin typeface="Calibri"/>
              </a:rPr>
              <a:t>84.2%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24159" y="1499616"/>
            <a:ext cx="10972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D97706"/>
                </a:solidFill>
                <a:latin typeface="Calibri"/>
              </a:rPr>
              <a:t>-5.9pp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989320" y="1920240"/>
            <a:ext cx="5989320" cy="457200"/>
          </a:xfrm>
          <a:prstGeom prst="rect">
            <a:avLst/>
          </a:prstGeom>
          <a:solidFill>
            <a:srgbClr val="DCF0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5989320" y="1920240"/>
            <a:ext cx="54864" cy="45720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217920" y="1975104"/>
            <a:ext cx="21031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293B"/>
                </a:solidFill>
                <a:latin typeface="Calibri"/>
              </a:rPr>
              <a:t>Unique Visitors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21040" y="1975104"/>
            <a:ext cx="100584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1C7293"/>
                </a:solidFill>
                <a:latin typeface="Calibri"/>
              </a:rPr>
              <a:t>172,118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372600" y="1975104"/>
            <a:ext cx="100584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1C7293"/>
                </a:solidFill>
                <a:latin typeface="Calibri"/>
              </a:rPr>
              <a:t>164,380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424159" y="1975104"/>
            <a:ext cx="10972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DC2626"/>
                </a:solidFill>
                <a:latin typeface="Calibri"/>
              </a:rPr>
              <a:t>-4.5%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989320" y="2395728"/>
            <a:ext cx="5989320" cy="457200"/>
          </a:xfrm>
          <a:prstGeom prst="rect">
            <a:avLst/>
          </a:prstGeom>
          <a:solidFill>
            <a:srgbClr val="EEF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5989320" y="2395728"/>
            <a:ext cx="54864" cy="45720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217920" y="2450592"/>
            <a:ext cx="21031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293B"/>
                </a:solidFill>
                <a:latin typeface="Calibri"/>
              </a:rPr>
              <a:t>Bounce Rate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21040" y="2450592"/>
            <a:ext cx="100584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1C7293"/>
                </a:solidFill>
                <a:latin typeface="Calibri"/>
              </a:rPr>
              <a:t>60.8%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372600" y="2450592"/>
            <a:ext cx="100584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1C7293"/>
                </a:solidFill>
                <a:latin typeface="Calibri"/>
              </a:rPr>
              <a:t>64.6%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424159" y="2450592"/>
            <a:ext cx="10972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DC2626"/>
                </a:solidFill>
                <a:latin typeface="Calibri"/>
              </a:rPr>
              <a:t>+3.8pp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989320" y="2871216"/>
            <a:ext cx="5989320" cy="457200"/>
          </a:xfrm>
          <a:prstGeom prst="rect">
            <a:avLst/>
          </a:prstGeom>
          <a:solidFill>
            <a:srgbClr val="DCF0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5989320" y="2871216"/>
            <a:ext cx="54864" cy="45720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217920" y="2926080"/>
            <a:ext cx="21031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293B"/>
                </a:solidFill>
                <a:latin typeface="Calibri"/>
              </a:rPr>
              <a:t>Pages/Visit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321040" y="2926080"/>
            <a:ext cx="100584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1C7293"/>
                </a:solidFill>
                <a:latin typeface="Calibri"/>
              </a:rPr>
              <a:t>2.21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372600" y="2926080"/>
            <a:ext cx="100584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1C7293"/>
                </a:solidFill>
                <a:latin typeface="Calibri"/>
              </a:rPr>
              <a:t>2.02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424159" y="2926080"/>
            <a:ext cx="10972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DC2626"/>
                </a:solidFill>
                <a:latin typeface="Calibri"/>
              </a:rPr>
              <a:t>-0.19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02920" y="132588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64748B"/>
                </a:solidFill>
                <a:latin typeface="Calibri"/>
              </a:rPr>
              <a:t>Metric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606039" y="1325880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64748B"/>
                </a:solidFill>
                <a:latin typeface="Calibri"/>
              </a:rPr>
              <a:t>Jan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657600" y="1325880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64748B"/>
                </a:solidFill>
                <a:latin typeface="Calibri"/>
              </a:rPr>
              <a:t>Feb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709159" y="13258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64748B"/>
                </a:solidFill>
                <a:latin typeface="Calibri"/>
              </a:rPr>
              <a:t>MoM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217920" y="132588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64748B"/>
                </a:solidFill>
                <a:latin typeface="Calibri"/>
              </a:rPr>
              <a:t>Metric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321040" y="1325880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64748B"/>
                </a:solidFill>
                <a:latin typeface="Calibri"/>
              </a:rPr>
              <a:t>Jan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372600" y="1325880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64748B"/>
                </a:solidFill>
                <a:latin typeface="Calibri"/>
              </a:rPr>
              <a:t>Feb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424159" y="13258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64748B"/>
                </a:solidFill>
                <a:latin typeface="Calibri"/>
              </a:rPr>
              <a:t>MoM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74320" y="3364992"/>
            <a:ext cx="117043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64748B"/>
                </a:solidFill>
                <a:latin typeface="Calibri"/>
              </a:rPr>
              <a:t>★ Avg daily PVs: Paid Jan 1,353 → Feb 2,230 (+64.8%) |  Non-Paid Jan 12,293 → Feb 11,884 (-3.3%)  |  solidigm.com only</a:t>
            </a:r>
          </a:p>
        </p:txBody>
      </p:sp>
      <p:sp>
        <p:nvSpPr>
          <p:cNvPr id="66" name="Rectangle 65"/>
          <p:cNvSpPr/>
          <p:nvPr/>
        </p:nvSpPr>
        <p:spPr>
          <a:xfrm>
            <a:off x="274320" y="3749039"/>
            <a:ext cx="11704320" cy="3657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74320" y="3803904"/>
            <a:ext cx="3657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64748B"/>
                </a:solidFill>
                <a:latin typeface="Calibri"/>
              </a:rPr>
              <a:t>OVERALL SITE SUMMARY</a:t>
            </a:r>
          </a:p>
        </p:txBody>
      </p:sp>
      <p:sp>
        <p:nvSpPr>
          <p:cNvPr id="68" name="Rectangle 67"/>
          <p:cNvSpPr/>
          <p:nvPr/>
        </p:nvSpPr>
        <p:spPr>
          <a:xfrm>
            <a:off x="274320" y="4114800"/>
            <a:ext cx="11704320" cy="292608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74320" y="4133087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Metric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572000" y="4133087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January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858000" y="4133087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February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326880" y="4133087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MoM Δ</a:t>
            </a:r>
          </a:p>
        </p:txBody>
      </p:sp>
      <p:sp>
        <p:nvSpPr>
          <p:cNvPr id="73" name="Rectangle 72"/>
          <p:cNvSpPr/>
          <p:nvPr/>
        </p:nvSpPr>
        <p:spPr>
          <a:xfrm>
            <a:off x="274320" y="4425696"/>
            <a:ext cx="11704320" cy="338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274320" y="4425696"/>
            <a:ext cx="54864" cy="338328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502920" y="4453128"/>
            <a:ext cx="39319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293B"/>
                </a:solidFill>
                <a:latin typeface="Calibri"/>
              </a:rPr>
              <a:t>Total Page Views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0" y="4453128"/>
            <a:ext cx="21031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065A82"/>
                </a:solidFill>
                <a:latin typeface="Calibri"/>
              </a:rPr>
              <a:t>423,020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858000" y="4453128"/>
            <a:ext cx="21031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1C7293"/>
                </a:solidFill>
                <a:latin typeface="Calibri"/>
              </a:rPr>
              <a:t>395,182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326880" y="4453128"/>
            <a:ext cx="24688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DC2626"/>
                </a:solidFill>
                <a:latin typeface="Calibri"/>
              </a:rPr>
              <a:t>-6.6%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274320" y="4782312"/>
            <a:ext cx="11704320" cy="33832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274320" y="4782312"/>
            <a:ext cx="54864" cy="338328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02920" y="4809744"/>
            <a:ext cx="39319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293B"/>
                </a:solidFill>
                <a:latin typeface="Calibri"/>
              </a:rPr>
              <a:t>Unique Visitors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572000" y="4809744"/>
            <a:ext cx="21031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065A82"/>
                </a:solidFill>
                <a:latin typeface="Calibri"/>
              </a:rPr>
              <a:t>193,070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858000" y="4809744"/>
            <a:ext cx="21031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1C7293"/>
                </a:solidFill>
                <a:latin typeface="Calibri"/>
              </a:rPr>
              <a:t>194,667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9326880" y="4809744"/>
            <a:ext cx="24688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059669"/>
                </a:solidFill>
                <a:latin typeface="Calibri"/>
              </a:rPr>
              <a:t>+0.8%</a:t>
            </a:r>
          </a:p>
        </p:txBody>
      </p:sp>
      <p:sp>
        <p:nvSpPr>
          <p:cNvPr id="85" name="Rectangle 84"/>
          <p:cNvSpPr/>
          <p:nvPr/>
        </p:nvSpPr>
        <p:spPr>
          <a:xfrm>
            <a:off x="274320" y="5138928"/>
            <a:ext cx="11704320" cy="338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274320" y="5138928"/>
            <a:ext cx="54864" cy="338328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502920" y="5166360"/>
            <a:ext cx="39319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293B"/>
                </a:solidFill>
                <a:latin typeface="Calibri"/>
              </a:rPr>
              <a:t>Pages / Visitor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572000" y="5166360"/>
            <a:ext cx="21031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065A82"/>
                </a:solidFill>
                <a:latin typeface="Calibri"/>
              </a:rPr>
              <a:t>2.19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858000" y="5166360"/>
            <a:ext cx="21031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1C7293"/>
                </a:solidFill>
                <a:latin typeface="Calibri"/>
              </a:rPr>
              <a:t>2.03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9326880" y="5166360"/>
            <a:ext cx="24688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D97706"/>
                </a:solidFill>
                <a:latin typeface="Calibri"/>
              </a:rPr>
              <a:t>-0.16</a:t>
            </a:r>
          </a:p>
        </p:txBody>
      </p:sp>
      <p:sp>
        <p:nvSpPr>
          <p:cNvPr id="91" name="Rectangle 90"/>
          <p:cNvSpPr/>
          <p:nvPr/>
        </p:nvSpPr>
        <p:spPr>
          <a:xfrm>
            <a:off x="274320" y="5495544"/>
            <a:ext cx="11704320" cy="33832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274320" y="5495544"/>
            <a:ext cx="54864" cy="338328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502920" y="5522976"/>
            <a:ext cx="39319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293B"/>
                </a:solidFill>
                <a:latin typeface="Calibri"/>
              </a:rPr>
              <a:t>Bounce Rate (total)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572000" y="5522976"/>
            <a:ext cx="21031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065A82"/>
                </a:solidFill>
                <a:latin typeface="Calibri"/>
              </a:rPr>
              <a:t>61.0%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858000" y="5522976"/>
            <a:ext cx="21031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1C7293"/>
                </a:solidFill>
                <a:latin typeface="Calibri"/>
              </a:rPr>
              <a:t>64.3%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9326880" y="5522976"/>
            <a:ext cx="24688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DC2626"/>
                </a:solidFill>
                <a:latin typeface="Calibri"/>
              </a:rPr>
              <a:t>+3.3pp</a:t>
            </a:r>
          </a:p>
        </p:txBody>
      </p:sp>
      <p:sp>
        <p:nvSpPr>
          <p:cNvPr id="97" name="Rectangle 96"/>
          <p:cNvSpPr/>
          <p:nvPr/>
        </p:nvSpPr>
        <p:spPr>
          <a:xfrm>
            <a:off x="274320" y="5852160"/>
            <a:ext cx="11704320" cy="338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274320" y="5852160"/>
            <a:ext cx="54864" cy="338328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502920" y="5879592"/>
            <a:ext cx="39319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293B"/>
                </a:solidFill>
                <a:latin typeface="Calibri"/>
              </a:rPr>
              <a:t>Hi-Engage (5+ pgs)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572000" y="5879592"/>
            <a:ext cx="21031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065A82"/>
                </a:solidFill>
                <a:latin typeface="Calibri"/>
              </a:rPr>
              <a:t>14,666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858000" y="5879592"/>
            <a:ext cx="21031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1C7293"/>
                </a:solidFill>
                <a:latin typeface="Calibri"/>
              </a:rPr>
              <a:t>13,222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326880" y="5879592"/>
            <a:ext cx="24688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DC2626"/>
                </a:solidFill>
                <a:latin typeface="Calibri"/>
              </a:rPr>
              <a:t>-9.8%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274320" y="6208776"/>
            <a:ext cx="11704320" cy="33832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274320" y="6208776"/>
            <a:ext cx="54864" cy="338328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502920" y="6236208"/>
            <a:ext cx="39319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293B"/>
                </a:solidFill>
                <a:latin typeface="Calibri"/>
              </a:rPr>
              <a:t>Hi-Engage %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572000" y="6236208"/>
            <a:ext cx="21031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065A82"/>
                </a:solidFill>
                <a:latin typeface="Calibri"/>
              </a:rPr>
              <a:t>7.6%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6858000" y="6236208"/>
            <a:ext cx="21031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1C7293"/>
                </a:solidFill>
                <a:latin typeface="Calibri"/>
              </a:rPr>
              <a:t>6.8%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9326880" y="6236208"/>
            <a:ext cx="24688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D97706"/>
                </a:solidFill>
                <a:latin typeface="Calibri"/>
              </a:rPr>
              <a:t>-0.8pp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77295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Traffic Comparison — Month over Month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27729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CADCFC"/>
                </a:solidFill>
                <a:latin typeface="Calibri"/>
              </a:rPr>
              <a:t>Normalized daily averages show +3.4% growth despite Feb having 3 fewer calendar days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303520" cy="5394960"/>
          </a:xfrm>
          <a:prstGeom prst="rect">
            <a:avLst/>
          </a:prstGeom>
          <a:solidFill>
            <a:srgbClr val="1E3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960120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Traffic Source Shift (% Share)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7160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CADCFC"/>
                </a:solidFill>
                <a:latin typeface="Calibri"/>
              </a:rPr>
              <a:t>Source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68880" y="137160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CADCFC"/>
                </a:solidFill>
                <a:latin typeface="Calibri"/>
              </a:rPr>
              <a:t>Jan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66160" y="137160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CADCFC"/>
                </a:solidFill>
                <a:latin typeface="Calibri"/>
              </a:rPr>
              <a:t>Feb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137160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CADCFC"/>
                </a:solidFill>
                <a:latin typeface="Calibri"/>
              </a:rPr>
              <a:t>Δ pts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1691640"/>
            <a:ext cx="5120640" cy="256032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1709928"/>
            <a:ext cx="25603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NON-PAID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68880" y="1709928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90.1%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0" y="1709928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84.2%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1709928"/>
            <a:ext cx="8229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F5A623"/>
                </a:solidFill>
                <a:latin typeface="Calibri"/>
              </a:rPr>
              <a:t>-5.9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1965960"/>
            <a:ext cx="5120640" cy="502920"/>
          </a:xfrm>
          <a:prstGeom prst="rect">
            <a:avLst/>
          </a:prstGeom>
          <a:solidFill>
            <a:srgbClr val="152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2039112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Calibri"/>
              </a:rPr>
              <a:t>  Direct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68880" y="2039112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CADCFC"/>
                </a:solidFill>
                <a:latin typeface="Calibri"/>
              </a:rPr>
              <a:t>60.8%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66160" y="2039112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CADCFC"/>
                </a:solidFill>
                <a:latin typeface="Calibri"/>
              </a:rPr>
              <a:t>47.5%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2039112"/>
            <a:ext cx="8229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DC2626"/>
                </a:solidFill>
                <a:latin typeface="Calibri"/>
              </a:rPr>
              <a:t>-13.3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2496312"/>
            <a:ext cx="5120640" cy="502920"/>
          </a:xfrm>
          <a:prstGeom prst="rect">
            <a:avLst/>
          </a:prstGeom>
          <a:solidFill>
            <a:srgbClr val="1E3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4360" y="2569464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Calibri"/>
              </a:rPr>
              <a:t>  Organic Search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468880" y="2569464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CADCFC"/>
                </a:solidFill>
                <a:latin typeface="Calibri"/>
              </a:rPr>
              <a:t>13.9%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66160" y="2569464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CADCFC"/>
                </a:solidFill>
                <a:latin typeface="Calibri"/>
              </a:rPr>
              <a:t>13.1%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2569464"/>
            <a:ext cx="8229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D97706"/>
                </a:solidFill>
                <a:latin typeface="Calibri"/>
              </a:rPr>
              <a:t>-0.8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026663"/>
            <a:ext cx="5120640" cy="502920"/>
          </a:xfrm>
          <a:prstGeom prst="rect">
            <a:avLst/>
          </a:prstGeom>
          <a:solidFill>
            <a:srgbClr val="152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360" y="3099815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Calibri"/>
              </a:rPr>
              <a:t>  Referral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468880" y="3099815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CADCFC"/>
                </a:solidFill>
                <a:latin typeface="Calibri"/>
              </a:rPr>
              <a:t>11.7%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66160" y="3099815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CADCFC"/>
                </a:solidFill>
                <a:latin typeface="Calibri"/>
              </a:rPr>
              <a:t>21.3%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0" y="3099815"/>
            <a:ext cx="8229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059669"/>
                </a:solidFill>
                <a:latin typeface="Calibri"/>
              </a:rPr>
              <a:t>+9.6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3557015"/>
            <a:ext cx="5120640" cy="502920"/>
          </a:xfrm>
          <a:prstGeom prst="rect">
            <a:avLst/>
          </a:prstGeom>
          <a:solidFill>
            <a:srgbClr val="1E3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94360" y="3630168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Calibri"/>
              </a:rPr>
              <a:t>  Social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468880" y="3630168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CADCFC"/>
                </a:solidFill>
                <a:latin typeface="Calibri"/>
              </a:rPr>
              <a:t> 3.7%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66160" y="3630168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CADCFC"/>
                </a:solidFill>
                <a:latin typeface="Calibri"/>
              </a:rPr>
              <a:t> 2.3%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0" y="3630168"/>
            <a:ext cx="8229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DC2626"/>
                </a:solidFill>
                <a:latin typeface="Calibri"/>
              </a:rPr>
              <a:t>-1.4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7200" y="4096512"/>
            <a:ext cx="5120640" cy="256032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94360" y="4114800"/>
            <a:ext cx="25603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PAID (Paid-Display)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468880" y="411480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 9.9%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566160" y="411480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15.8%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0" y="4114800"/>
            <a:ext cx="8229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F5A623"/>
                </a:solidFill>
                <a:latin typeface="Calibri"/>
              </a:rPr>
              <a:t>+5.9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57200" y="4370832"/>
            <a:ext cx="5120640" cy="502920"/>
          </a:xfrm>
          <a:prstGeom prst="rect">
            <a:avLst/>
          </a:prstGeom>
          <a:solidFill>
            <a:srgbClr val="152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94360" y="4443984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Calibri"/>
              </a:rPr>
              <a:t>  Paid / Display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468880" y="4443984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CADCFC"/>
                </a:solidFill>
                <a:latin typeface="Calibri"/>
              </a:rPr>
              <a:t> 9.9%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66160" y="4443984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CADCFC"/>
                </a:solidFill>
                <a:latin typeface="Calibri"/>
              </a:rPr>
              <a:t>15.8%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72000" y="4443984"/>
            <a:ext cx="8229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D97706"/>
                </a:solidFill>
                <a:latin typeface="Calibri"/>
              </a:rPr>
              <a:t>+5.9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943600" y="914400"/>
            <a:ext cx="2743200" cy="2286000"/>
          </a:xfrm>
          <a:prstGeom prst="rect">
            <a:avLst/>
          </a:prstGeom>
          <a:solidFill>
            <a:srgbClr val="1E3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943600" y="914400"/>
            <a:ext cx="2743200" cy="73152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943600" y="1051560"/>
            <a:ext cx="27432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600" b="1" i="0">
                <a:solidFill>
                  <a:srgbClr val="DC2626"/>
                </a:solidFill>
                <a:latin typeface="Calibri"/>
              </a:rPr>
              <a:t>+64.8%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943600" y="1874519"/>
            <a:ext cx="27432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CADCFC"/>
                </a:solidFill>
                <a:latin typeface="Calibri"/>
              </a:rPr>
              <a:t>Paid avg daily PVs</a:t>
            </a:r>
            <a:br/>
            <a:r>
              <a:t>grew MoM (campaigns ramped)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869680" y="914400"/>
            <a:ext cx="2743200" cy="2286000"/>
          </a:xfrm>
          <a:prstGeom prst="rect">
            <a:avLst/>
          </a:prstGeom>
          <a:solidFill>
            <a:srgbClr val="1E3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8869680" y="914400"/>
            <a:ext cx="2743200" cy="7315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869680" y="1051560"/>
            <a:ext cx="27432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600" b="1" i="0">
                <a:solidFill>
                  <a:srgbClr val="D97706"/>
                </a:solidFill>
                <a:latin typeface="Calibri"/>
              </a:rPr>
              <a:t>-3.3%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869680" y="1874519"/>
            <a:ext cx="27432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CADCFC"/>
                </a:solidFill>
                <a:latin typeface="Calibri"/>
              </a:rPr>
              <a:t>Non-Paid avg daily PVs</a:t>
            </a:r>
            <a:br/>
            <a:r>
              <a:t>declined MoM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943600" y="3474720"/>
            <a:ext cx="2743200" cy="2286000"/>
          </a:xfrm>
          <a:prstGeom prst="rect">
            <a:avLst/>
          </a:prstGeom>
          <a:solidFill>
            <a:srgbClr val="1E3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5943600" y="3474720"/>
            <a:ext cx="2743200" cy="7315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943600" y="3611879"/>
            <a:ext cx="27432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600" b="1" i="0">
                <a:solidFill>
                  <a:srgbClr val="059669"/>
                </a:solidFill>
                <a:latin typeface="Calibri"/>
              </a:rPr>
              <a:t>+9.6pp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943600" y="4434840"/>
            <a:ext cx="27432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CADCFC"/>
                </a:solidFill>
                <a:latin typeface="Calibri"/>
              </a:rPr>
              <a:t>Referral share growth</a:t>
            </a:r>
            <a:br/>
            <a:r>
              <a:t>(non-paid: new partners)</a:t>
            </a:r>
          </a:p>
        </p:txBody>
      </p:sp>
      <p:sp>
        <p:nvSpPr>
          <p:cNvPr id="58" name="Rectangle 57"/>
          <p:cNvSpPr/>
          <p:nvPr/>
        </p:nvSpPr>
        <p:spPr>
          <a:xfrm>
            <a:off x="8869680" y="3474720"/>
            <a:ext cx="2743200" cy="2286000"/>
          </a:xfrm>
          <a:prstGeom prst="rect">
            <a:avLst/>
          </a:prstGeom>
          <a:solidFill>
            <a:srgbClr val="1E3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8869680" y="3474720"/>
            <a:ext cx="2743200" cy="7315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869680" y="3611879"/>
            <a:ext cx="27432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600" b="1" i="0">
                <a:solidFill>
                  <a:srgbClr val="059669"/>
                </a:solidFill>
                <a:latin typeface="Calibri"/>
              </a:rPr>
              <a:t>+3.4%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869680" y="4434840"/>
            <a:ext cx="27432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CADCFC"/>
                </a:solidFill>
                <a:latin typeface="Calibri"/>
              </a:rPr>
              <a:t>Overall avg daily PVs</a:t>
            </a:r>
            <a:br/>
            <a:r>
              <a:t>grew MoM (day-normalized)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65760" y="61722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CADCFC"/>
                </a:solidFill>
                <a:latin typeface="Calibri"/>
              </a:rPr>
              <a:t>Day-of-week peak: JAN → Fri (76,611 PVs)  |  FEB → Tue (63,165 PVs)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77295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Top Traffic Leaders — Feb Paid vs Non-Paid Breakdown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27729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CADCFC"/>
                </a:solidFill>
                <a:latin typeface="Calibri"/>
              </a:rPr>
              <a:t>Top 10 pages by Feb PVs  |  Paid = Paid-Display campaigns  |  Non-Paid = Organic / Direct / Referral / Social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868680"/>
            <a:ext cx="11612880" cy="384048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166360" y="868680"/>
            <a:ext cx="1234440" cy="384048"/>
          </a:xfrm>
          <a:prstGeom prst="rect">
            <a:avLst/>
          </a:prstGeom>
          <a:solidFill>
            <a:srgbClr val="155E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0" y="868680"/>
            <a:ext cx="1371600" cy="384048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886968"/>
            <a:ext cx="3200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#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886968"/>
            <a:ext cx="32461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Page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77639" y="886968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Jan PVs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80" y="886968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Feb Paid PVs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886968"/>
            <a:ext cx="128016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Feb Non-Paid PVs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0" y="886968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MoM 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23960" y="886968"/>
            <a:ext cx="30175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Engagement Signal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" y="1298448"/>
            <a:ext cx="11612880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166360" y="1298448"/>
            <a:ext cx="1234440" cy="438912"/>
          </a:xfrm>
          <a:prstGeom prst="rect">
            <a:avLst/>
          </a:prstGeom>
          <a:solidFill>
            <a:srgbClr val="E8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0" y="1298448"/>
            <a:ext cx="1371600" cy="438912"/>
          </a:xfrm>
          <a:prstGeom prst="rect">
            <a:avLst/>
          </a:prstGeom>
          <a:solidFill>
            <a:srgbClr val="E8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20040" y="1335024"/>
            <a:ext cx="320040" cy="347472"/>
          </a:xfrm>
          <a:prstGeom prst="round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0040" y="1353312"/>
            <a:ext cx="3200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1371600"/>
            <a:ext cx="32461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E293B"/>
                </a:solidFill>
                <a:latin typeface="Calibri"/>
              </a:rPr>
              <a:t>Solidigm Data Storage Solutions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77639" y="1371600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64748B"/>
                </a:solidFill>
                <a:latin typeface="Calibri"/>
              </a:rPr>
              <a:t>179,592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1371600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1C7293"/>
                </a:solidFill>
                <a:latin typeface="Calibri"/>
              </a:rPr>
              <a:t> 22,510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6520" y="1371600"/>
            <a:ext cx="128016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065A82"/>
                </a:solidFill>
                <a:latin typeface="Calibri"/>
              </a:rPr>
              <a:t>134,273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0" y="1371600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DC2626"/>
                </a:solidFill>
                <a:latin typeface="Calibri"/>
              </a:rPr>
              <a:t>-12.7%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23960" y="1371600"/>
            <a:ext cx="30175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64748B"/>
                </a:solidFill>
                <a:latin typeface="Calibri"/>
              </a:rPr>
              <a:t>Homepage — primary entry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0040" y="1755648"/>
            <a:ext cx="11612880" cy="43891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166360" y="1755648"/>
            <a:ext cx="1234440" cy="438912"/>
          </a:xfrm>
          <a:prstGeom prst="rect">
            <a:avLst/>
          </a:prstGeom>
          <a:solidFill>
            <a:srgbClr val="D6E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400800" y="1755648"/>
            <a:ext cx="1371600" cy="438912"/>
          </a:xfrm>
          <a:prstGeom prst="rect">
            <a:avLst/>
          </a:prstGeom>
          <a:solidFill>
            <a:srgbClr val="D6E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320040" y="1792224"/>
            <a:ext cx="320040" cy="347472"/>
          </a:xfrm>
          <a:prstGeom prst="round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20040" y="1810512"/>
            <a:ext cx="3200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5800" y="1828800"/>
            <a:ext cx="32461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E293B"/>
                </a:solidFill>
                <a:latin typeface="Calibri"/>
              </a:rPr>
              <a:t>AI Storage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977639" y="1828800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64748B"/>
                </a:solidFill>
                <a:latin typeface="Calibri"/>
              </a:rPr>
              <a:t> 86,742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212080" y="1828800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1C7293"/>
                </a:solidFill>
                <a:latin typeface="Calibri"/>
              </a:rPr>
              <a:t> 16,730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46520" y="1828800"/>
            <a:ext cx="128016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065A82"/>
                </a:solidFill>
                <a:latin typeface="Calibri"/>
              </a:rPr>
              <a:t> 78,252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0" y="1828800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059669"/>
                </a:solidFill>
                <a:latin typeface="Calibri"/>
              </a:rPr>
              <a:t> +9.5%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823960" y="1828800"/>
            <a:ext cx="30175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64748B"/>
                </a:solidFill>
                <a:latin typeface="Calibri"/>
              </a:rPr>
              <a:t>Core product — SEO driver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20040" y="2212848"/>
            <a:ext cx="11612880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166360" y="2212848"/>
            <a:ext cx="1234440" cy="438912"/>
          </a:xfrm>
          <a:prstGeom prst="rect">
            <a:avLst/>
          </a:prstGeom>
          <a:solidFill>
            <a:srgbClr val="E8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400800" y="2212848"/>
            <a:ext cx="1371600" cy="438912"/>
          </a:xfrm>
          <a:prstGeom prst="rect">
            <a:avLst/>
          </a:prstGeom>
          <a:solidFill>
            <a:srgbClr val="E8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320040" y="2249424"/>
            <a:ext cx="320040" cy="347472"/>
          </a:xfrm>
          <a:prstGeom prst="round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20040" y="2267712"/>
            <a:ext cx="3200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5800" y="2286000"/>
            <a:ext cx="32461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E293B"/>
                </a:solidFill>
                <a:latin typeface="Calibri"/>
              </a:rPr>
              <a:t>Edge Storage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977639" y="2286000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64748B"/>
                </a:solidFill>
                <a:latin typeface="Calibri"/>
              </a:rPr>
              <a:t> 49,393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212080" y="2286000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1C7293"/>
                </a:solidFill>
                <a:latin typeface="Calibri"/>
              </a:rPr>
              <a:t> 18,330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46520" y="2286000"/>
            <a:ext cx="128016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065A82"/>
                </a:solidFill>
                <a:latin typeface="Calibri"/>
              </a:rPr>
              <a:t> 31,046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772400" y="2286000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D97706"/>
                </a:solidFill>
                <a:latin typeface="Calibri"/>
              </a:rPr>
              <a:t>  0.0%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823960" y="2286000"/>
            <a:ext cx="30175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64748B"/>
                </a:solidFill>
                <a:latin typeface="Calibri"/>
              </a:rPr>
              <a:t>Stable — consistent demand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20040" y="2670048"/>
            <a:ext cx="11612880" cy="43891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166360" y="2670048"/>
            <a:ext cx="1234440" cy="438912"/>
          </a:xfrm>
          <a:prstGeom prst="rect">
            <a:avLst/>
          </a:prstGeom>
          <a:solidFill>
            <a:srgbClr val="D6E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6400800" y="2670048"/>
            <a:ext cx="1371600" cy="438912"/>
          </a:xfrm>
          <a:prstGeom prst="rect">
            <a:avLst/>
          </a:prstGeom>
          <a:solidFill>
            <a:srgbClr val="D6E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320040" y="2706624"/>
            <a:ext cx="320040" cy="347472"/>
          </a:xfrm>
          <a:prstGeom prst="round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20040" y="2724912"/>
            <a:ext cx="3200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85800" y="2743200"/>
            <a:ext cx="32461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E293B"/>
                </a:solidFill>
                <a:latin typeface="Calibri"/>
              </a:rPr>
              <a:t>Our Story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977639" y="2743200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64748B"/>
                </a:solidFill>
                <a:latin typeface="Calibri"/>
              </a:rPr>
              <a:t>    514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212080" y="2743200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1C7293"/>
                </a:solidFill>
                <a:latin typeface="Calibri"/>
              </a:rPr>
              <a:t>  3,380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446520" y="2743200"/>
            <a:ext cx="128016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065A82"/>
                </a:solidFill>
                <a:latin typeface="Calibri"/>
              </a:rPr>
              <a:t> 28,610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772400" y="2743200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059669"/>
                </a:solidFill>
                <a:latin typeface="Calibri"/>
              </a:rPr>
              <a:t>+6,122%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823960" y="2743200"/>
            <a:ext cx="30175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64748B"/>
                </a:solidFill>
                <a:latin typeface="Calibri"/>
              </a:rPr>
              <a:t>&gt;&gt; Breakout — mostly Non-Paid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20040" y="3127248"/>
            <a:ext cx="11612880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5166360" y="3127248"/>
            <a:ext cx="1234440" cy="438912"/>
          </a:xfrm>
          <a:prstGeom prst="rect">
            <a:avLst/>
          </a:prstGeom>
          <a:solidFill>
            <a:srgbClr val="E8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6400800" y="3127248"/>
            <a:ext cx="1371600" cy="438912"/>
          </a:xfrm>
          <a:prstGeom prst="rect">
            <a:avLst/>
          </a:prstGeom>
          <a:solidFill>
            <a:srgbClr val="E8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320040" y="3163824"/>
            <a:ext cx="320040" cy="347472"/>
          </a:xfrm>
          <a:prstGeom prst="round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20040" y="3182112"/>
            <a:ext cx="3200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85800" y="3200400"/>
            <a:ext cx="32461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E293B"/>
                </a:solidFill>
                <a:latin typeface="Calibri"/>
              </a:rPr>
              <a:t>D5-P5336 (Product)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77639" y="3200400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64748B"/>
                </a:solidFill>
                <a:latin typeface="Calibri"/>
              </a:rPr>
              <a:t> 13,887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212080" y="3200400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1C7293"/>
                </a:solidFill>
                <a:latin typeface="Calibri"/>
              </a:rPr>
              <a:t>      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446520" y="3200400"/>
            <a:ext cx="128016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065A82"/>
                </a:solidFill>
                <a:latin typeface="Calibri"/>
              </a:rPr>
              <a:t> 10,725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772400" y="3200400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DC2626"/>
                </a:solidFill>
                <a:latin typeface="Calibri"/>
              </a:rPr>
              <a:t>-22.8%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823960" y="3200400"/>
            <a:ext cx="30175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64748B"/>
                </a:solidFill>
                <a:latin typeface="Calibri"/>
              </a:rPr>
              <a:t>Product detail — intent</a:t>
            </a:r>
          </a:p>
        </p:txBody>
      </p:sp>
      <p:sp>
        <p:nvSpPr>
          <p:cNvPr id="70" name="Rectangle 69"/>
          <p:cNvSpPr/>
          <p:nvPr/>
        </p:nvSpPr>
        <p:spPr>
          <a:xfrm>
            <a:off x="320040" y="3584448"/>
            <a:ext cx="11612880" cy="43891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5166360" y="3584448"/>
            <a:ext cx="1234440" cy="438912"/>
          </a:xfrm>
          <a:prstGeom prst="rect">
            <a:avLst/>
          </a:prstGeom>
          <a:solidFill>
            <a:srgbClr val="D6E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6400800" y="3584448"/>
            <a:ext cx="1371600" cy="438912"/>
          </a:xfrm>
          <a:prstGeom prst="rect">
            <a:avLst/>
          </a:prstGeom>
          <a:solidFill>
            <a:srgbClr val="D6E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ounded Rectangle 72"/>
          <p:cNvSpPr/>
          <p:nvPr/>
        </p:nvSpPr>
        <p:spPr>
          <a:xfrm>
            <a:off x="320040" y="3621024"/>
            <a:ext cx="320040" cy="347472"/>
          </a:xfrm>
          <a:prstGeom prst="round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20040" y="3639312"/>
            <a:ext cx="3200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85800" y="3657600"/>
            <a:ext cx="32461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E293B"/>
                </a:solidFill>
                <a:latin typeface="Calibri"/>
              </a:rPr>
              <a:t>Air-to-Liquid Cooling Article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977639" y="3657600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64748B"/>
                </a:solidFill>
                <a:latin typeface="Calibri"/>
              </a:rPr>
              <a:t>  7,159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212080" y="3657600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1C7293"/>
                </a:solidFill>
                <a:latin typeface="Calibri"/>
              </a:rPr>
              <a:t>     32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446520" y="3657600"/>
            <a:ext cx="128016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065A82"/>
                </a:solidFill>
                <a:latin typeface="Calibri"/>
              </a:rPr>
              <a:t>  6,463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772400" y="3657600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DC2626"/>
                </a:solidFill>
                <a:latin typeface="Calibri"/>
              </a:rPr>
              <a:t> -9.3%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23960" y="3657600"/>
            <a:ext cx="30175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64748B"/>
                </a:solidFill>
                <a:latin typeface="Calibri"/>
              </a:rPr>
              <a:t>Thought leadership</a:t>
            </a:r>
          </a:p>
        </p:txBody>
      </p:sp>
      <p:sp>
        <p:nvSpPr>
          <p:cNvPr id="81" name="Rectangle 80"/>
          <p:cNvSpPr/>
          <p:nvPr/>
        </p:nvSpPr>
        <p:spPr>
          <a:xfrm>
            <a:off x="320040" y="4041648"/>
            <a:ext cx="11612880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5166360" y="4041648"/>
            <a:ext cx="1234440" cy="438912"/>
          </a:xfrm>
          <a:prstGeom prst="rect">
            <a:avLst/>
          </a:prstGeom>
          <a:solidFill>
            <a:srgbClr val="E8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6400800" y="4041648"/>
            <a:ext cx="1371600" cy="438912"/>
          </a:xfrm>
          <a:prstGeom prst="rect">
            <a:avLst/>
          </a:prstGeom>
          <a:solidFill>
            <a:srgbClr val="E8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ounded Rectangle 83"/>
          <p:cNvSpPr/>
          <p:nvPr/>
        </p:nvSpPr>
        <p:spPr>
          <a:xfrm>
            <a:off x="320040" y="4078224"/>
            <a:ext cx="320040" cy="347472"/>
          </a:xfrm>
          <a:prstGeom prst="round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320040" y="4096511"/>
            <a:ext cx="3200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85800" y="4114800"/>
            <a:ext cx="32461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E293B"/>
                </a:solidFill>
                <a:latin typeface="Calibri"/>
              </a:rPr>
              <a:t>Solidigm Storage Tool™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977639" y="4114800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64748B"/>
                </a:solidFill>
                <a:latin typeface="Calibri"/>
              </a:rPr>
              <a:t>  4,517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212080" y="4114800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1C7293"/>
                </a:solidFill>
                <a:latin typeface="Calibri"/>
              </a:rPr>
              <a:t>      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446520" y="4114800"/>
            <a:ext cx="128016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065A82"/>
                </a:solidFill>
                <a:latin typeface="Calibri"/>
              </a:rPr>
              <a:t>  3,947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7772400" y="4114800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DC2626"/>
                </a:solidFill>
                <a:latin typeface="Calibri"/>
              </a:rPr>
              <a:t>-12.6%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823960" y="4114800"/>
            <a:ext cx="30175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64748B"/>
                </a:solidFill>
                <a:latin typeface="Calibri"/>
              </a:rPr>
              <a:t>Support tool</a:t>
            </a:r>
          </a:p>
        </p:txBody>
      </p:sp>
      <p:sp>
        <p:nvSpPr>
          <p:cNvPr id="92" name="Rectangle 91"/>
          <p:cNvSpPr/>
          <p:nvPr/>
        </p:nvSpPr>
        <p:spPr>
          <a:xfrm>
            <a:off x="320040" y="4498848"/>
            <a:ext cx="11612880" cy="43891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5166360" y="4498848"/>
            <a:ext cx="1234440" cy="438912"/>
          </a:xfrm>
          <a:prstGeom prst="rect">
            <a:avLst/>
          </a:prstGeom>
          <a:solidFill>
            <a:srgbClr val="D6E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6400800" y="4498848"/>
            <a:ext cx="1371600" cy="438912"/>
          </a:xfrm>
          <a:prstGeom prst="rect">
            <a:avLst/>
          </a:prstGeom>
          <a:solidFill>
            <a:srgbClr val="D6E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ounded Rectangle 94"/>
          <p:cNvSpPr/>
          <p:nvPr/>
        </p:nvSpPr>
        <p:spPr>
          <a:xfrm>
            <a:off x="320040" y="4535424"/>
            <a:ext cx="320040" cy="347472"/>
          </a:xfrm>
          <a:prstGeom prst="round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320040" y="4553712"/>
            <a:ext cx="3200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685800" y="4572000"/>
            <a:ext cx="32461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E293B"/>
                </a:solidFill>
                <a:latin typeface="Calibri"/>
              </a:rPr>
              <a:t>Homepage (direct)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3977639" y="4572000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64748B"/>
                </a:solidFill>
                <a:latin typeface="Calibri"/>
              </a:rPr>
              <a:t> 10,803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5212080" y="4572000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1C7293"/>
                </a:solidFill>
                <a:latin typeface="Calibri"/>
              </a:rPr>
              <a:t>    577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446520" y="4572000"/>
            <a:ext cx="128016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065A82"/>
                </a:solidFill>
                <a:latin typeface="Calibri"/>
              </a:rPr>
              <a:t>  3,599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772400" y="4572000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DC2626"/>
                </a:solidFill>
                <a:latin typeface="Calibri"/>
              </a:rPr>
              <a:t>-61.3%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823960" y="4572000"/>
            <a:ext cx="30175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64748B"/>
                </a:solidFill>
                <a:latin typeface="Calibri"/>
              </a:rPr>
              <a:t>Brand landing variant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320040" y="4956048"/>
            <a:ext cx="11612880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5166360" y="4956048"/>
            <a:ext cx="1234440" cy="438912"/>
          </a:xfrm>
          <a:prstGeom prst="rect">
            <a:avLst/>
          </a:prstGeom>
          <a:solidFill>
            <a:srgbClr val="E8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6400800" y="4956048"/>
            <a:ext cx="1371600" cy="438912"/>
          </a:xfrm>
          <a:prstGeom prst="rect">
            <a:avLst/>
          </a:prstGeom>
          <a:solidFill>
            <a:srgbClr val="E8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ounded Rectangle 105"/>
          <p:cNvSpPr/>
          <p:nvPr/>
        </p:nvSpPr>
        <p:spPr>
          <a:xfrm>
            <a:off x="320040" y="4992624"/>
            <a:ext cx="320040" cy="347472"/>
          </a:xfrm>
          <a:prstGeom prst="round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320040" y="5010912"/>
            <a:ext cx="3200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685800" y="5029200"/>
            <a:ext cx="32461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E293B"/>
                </a:solidFill>
                <a:latin typeface="Calibri"/>
              </a:rPr>
              <a:t>Unlocking AI Scale (SSD)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3977639" y="5029200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64748B"/>
                </a:solidFill>
                <a:latin typeface="Calibri"/>
              </a:rPr>
              <a:t>      6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5212080" y="5029200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1C7293"/>
                </a:solidFill>
                <a:latin typeface="Calibri"/>
              </a:rPr>
              <a:t>     39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6446520" y="5029200"/>
            <a:ext cx="128016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065A82"/>
                </a:solidFill>
                <a:latin typeface="Calibri"/>
              </a:rPr>
              <a:t>  3,425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772400" y="5029200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D97706"/>
                </a:solidFill>
                <a:latin typeface="Calibri"/>
              </a:rPr>
              <a:t>   new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823960" y="5029200"/>
            <a:ext cx="30175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64748B"/>
                </a:solidFill>
                <a:latin typeface="Calibri"/>
              </a:rPr>
              <a:t>New content breakout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320040" y="5413248"/>
            <a:ext cx="11612880" cy="43891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5166360" y="5413248"/>
            <a:ext cx="1234440" cy="438912"/>
          </a:xfrm>
          <a:prstGeom prst="rect">
            <a:avLst/>
          </a:prstGeom>
          <a:solidFill>
            <a:srgbClr val="D6E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6400800" y="5413248"/>
            <a:ext cx="1371600" cy="438912"/>
          </a:xfrm>
          <a:prstGeom prst="rect">
            <a:avLst/>
          </a:prstGeom>
          <a:solidFill>
            <a:srgbClr val="D6E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ounded Rectangle 116"/>
          <p:cNvSpPr/>
          <p:nvPr/>
        </p:nvSpPr>
        <p:spPr>
          <a:xfrm>
            <a:off x="320040" y="5449824"/>
            <a:ext cx="320040" cy="347472"/>
          </a:xfrm>
          <a:prstGeom prst="round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320040" y="5468112"/>
            <a:ext cx="3200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10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685800" y="5486400"/>
            <a:ext cx="32461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E293B"/>
                </a:solidFill>
                <a:latin typeface="Calibri"/>
              </a:rPr>
              <a:t>Incredible Power Article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977639" y="5486400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64748B"/>
                </a:solidFill>
                <a:latin typeface="Calibri"/>
              </a:rPr>
              <a:t>  2,353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5212080" y="5486400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1C7293"/>
                </a:solidFill>
                <a:latin typeface="Calibri"/>
              </a:rPr>
              <a:t>      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6446520" y="5486400"/>
            <a:ext cx="128016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065A82"/>
                </a:solidFill>
                <a:latin typeface="Calibri"/>
              </a:rPr>
              <a:t>  3,117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7772400" y="5486400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059669"/>
                </a:solidFill>
                <a:latin typeface="Calibri"/>
              </a:rPr>
              <a:t>+32.5%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823960" y="5486400"/>
            <a:ext cx="30175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64748B"/>
                </a:solidFill>
                <a:latin typeface="Calibri"/>
              </a:rPr>
              <a:t>Thought leadership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20040" y="6236208"/>
            <a:ext cx="11430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065A82"/>
                </a:solidFill>
                <a:latin typeface="Calibri"/>
              </a:rPr>
              <a:t>&gt;&gt; Our Story surged to #4 — 89% Non-Paid (organic/direct). Edge Storage has the highest Paid share at 37% — review campaign ROI.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77295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Bounce Rate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27729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CADCFC"/>
                </a:solidFill>
                <a:latin typeface="Calibri"/>
              </a:rPr>
              <a:t>Overall: Jan 61.0%  →  Feb 64.3%  (+3.3 pp)  |  A bounce = visitor who viewed only 1 page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120640" cy="5074920"/>
          </a:xfrm>
          <a:prstGeom prst="rect">
            <a:avLst/>
          </a:prstGeom>
          <a:solidFill>
            <a:srgbClr val="1E3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960120"/>
            <a:ext cx="47548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Bounce Rate by Channel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353312"/>
            <a:ext cx="4937760" cy="594360"/>
          </a:xfrm>
          <a:prstGeom prst="rect">
            <a:avLst/>
          </a:prstGeom>
          <a:solidFill>
            <a:srgbClr val="3A10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353312"/>
            <a:ext cx="73152" cy="59436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444752"/>
            <a:ext cx="16459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DC2626"/>
                </a:solidFill>
                <a:latin typeface="Calibri"/>
              </a:rPr>
              <a:t>PAID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1444752"/>
            <a:ext cx="10972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CADCFC"/>
                </a:solidFill>
                <a:latin typeface="Calibri"/>
              </a:rPr>
              <a:t>70.0%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29000" y="1444752"/>
            <a:ext cx="3200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4748B"/>
                </a:solidFill>
                <a:latin typeface="Calibri"/>
              </a:rPr>
              <a:t>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39" y="1444752"/>
            <a:ext cx="10972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DC2626"/>
                </a:solidFill>
                <a:latin typeface="Calibri"/>
              </a:rPr>
              <a:t>70.6%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011680"/>
            <a:ext cx="4937760" cy="594360"/>
          </a:xfrm>
          <a:prstGeom prst="rect">
            <a:avLst/>
          </a:prstGeom>
          <a:solidFill>
            <a:srgbClr val="0D2D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2011680"/>
            <a:ext cx="73152" cy="59436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2103120"/>
            <a:ext cx="16459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D97706"/>
                </a:solidFill>
                <a:latin typeface="Calibri"/>
              </a:rPr>
              <a:t>NON-PAID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31720" y="2103120"/>
            <a:ext cx="10972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CADCFC"/>
                </a:solidFill>
                <a:latin typeface="Calibri"/>
              </a:rPr>
              <a:t>60.8%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29000" y="2103120"/>
            <a:ext cx="3200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4748B"/>
                </a:solidFill>
                <a:latin typeface="Calibri"/>
              </a:rPr>
              <a:t>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49039" y="2103120"/>
            <a:ext cx="10972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D97706"/>
                </a:solidFill>
                <a:latin typeface="Calibri"/>
              </a:rPr>
              <a:t>64.6%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1261872"/>
            <a:ext cx="45720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CADCFC"/>
                </a:solidFill>
                <a:latin typeface="Calibri"/>
              </a:rPr>
              <a:t>  Channel           Jan      Feb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2697480"/>
            <a:ext cx="4937760" cy="36576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276148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CADCFC"/>
                </a:solidFill>
                <a:latin typeface="Calibri"/>
              </a:rPr>
              <a:t>By Source (Non-Paid detail)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3063240"/>
            <a:ext cx="4937760" cy="438912"/>
          </a:xfrm>
          <a:prstGeom prst="rect">
            <a:avLst/>
          </a:prstGeom>
          <a:solidFill>
            <a:srgbClr val="152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3127248"/>
            <a:ext cx="18288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Organic Search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423160" y="3127248"/>
            <a:ext cx="100584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CADCFC"/>
                </a:solidFill>
                <a:latin typeface="Calibri"/>
              </a:rPr>
              <a:t>48.5%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74720" y="3127248"/>
            <a:ext cx="100584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D97706"/>
                </a:solidFill>
                <a:latin typeface="Calibri"/>
              </a:rPr>
              <a:t>49.5%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538728"/>
            <a:ext cx="4937760" cy="438912"/>
          </a:xfrm>
          <a:prstGeom prst="rect">
            <a:avLst/>
          </a:prstGeom>
          <a:solidFill>
            <a:srgbClr val="1E3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360" y="3602736"/>
            <a:ext cx="18288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Direct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423160" y="3602736"/>
            <a:ext cx="100584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CADCFC"/>
                </a:solidFill>
                <a:latin typeface="Calibri"/>
              </a:rPr>
              <a:t>63.6%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74720" y="3602736"/>
            <a:ext cx="100584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DC2626"/>
                </a:solidFill>
                <a:latin typeface="Calibri"/>
              </a:rPr>
              <a:t>69.4%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4014216"/>
            <a:ext cx="4937760" cy="438912"/>
          </a:xfrm>
          <a:prstGeom prst="rect">
            <a:avLst/>
          </a:prstGeom>
          <a:solidFill>
            <a:srgbClr val="152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94360" y="4078224"/>
            <a:ext cx="18288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Referral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423160" y="4078224"/>
            <a:ext cx="100584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CADCFC"/>
                </a:solidFill>
                <a:latin typeface="Calibri"/>
              </a:rPr>
              <a:t>65.5%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74720" y="4078224"/>
            <a:ext cx="100584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059669"/>
                </a:solidFill>
                <a:latin typeface="Calibri"/>
              </a:rPr>
              <a:t>65.4%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4489704"/>
            <a:ext cx="4937760" cy="438912"/>
          </a:xfrm>
          <a:prstGeom prst="rect">
            <a:avLst/>
          </a:prstGeom>
          <a:solidFill>
            <a:srgbClr val="1E3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94360" y="4553712"/>
            <a:ext cx="18288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Social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423160" y="4553712"/>
            <a:ext cx="100584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CADCFC"/>
                </a:solidFill>
                <a:latin typeface="Calibri"/>
              </a:rPr>
              <a:t>74.8%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474720" y="4553712"/>
            <a:ext cx="100584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DC2626"/>
                </a:solidFill>
                <a:latin typeface="Calibri"/>
              </a:rPr>
              <a:t>75.1%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760720" y="914400"/>
            <a:ext cx="6126480" cy="2194560"/>
          </a:xfrm>
          <a:prstGeom prst="rect">
            <a:avLst/>
          </a:prstGeom>
          <a:solidFill>
            <a:srgbClr val="1E3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943600" y="960120"/>
            <a:ext cx="57607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By Device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943600" y="1371600"/>
            <a:ext cx="57607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C2626"/>
                </a:solidFill>
                <a:latin typeface="Calibri"/>
              </a:rPr>
              <a:t>Desktop    58.1% → 61.8%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943600" y="1920240"/>
            <a:ext cx="57607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C2626"/>
                </a:solidFill>
                <a:latin typeface="Calibri"/>
              </a:rPr>
              <a:t>Mobile     67.5% → 69.6%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943600" y="2468880"/>
            <a:ext cx="57607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059669"/>
                </a:solidFill>
                <a:latin typeface="Calibri"/>
              </a:rPr>
              <a:t>Tablet     74.3% → 70.1%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760720" y="3291840"/>
            <a:ext cx="6126480" cy="2743200"/>
          </a:xfrm>
          <a:prstGeom prst="rect">
            <a:avLst/>
          </a:prstGeom>
          <a:solidFill>
            <a:srgbClr val="152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760720" y="3291840"/>
            <a:ext cx="6126480" cy="64008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943600" y="3383280"/>
            <a:ext cx="57607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5A623"/>
                </a:solidFill>
                <a:latin typeface="Calibri"/>
              </a:rPr>
              <a:t>&gt;&gt; Recommendations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943600" y="3840480"/>
            <a:ext cx="576072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ADCFC"/>
                </a:solidFill>
                <a:latin typeface="Calibri"/>
              </a:rPr>
              <a:t>→  Paid BR stuck at 70%+ both months → stop Amazon Ads (99%!); rebuild display landing pages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943600" y="4224528"/>
            <a:ext cx="576072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ADCFC"/>
                </a:solidFill>
                <a:latin typeface="Calibri"/>
              </a:rPr>
              <a:t>→  Non-Paid BR rising +3.8pp → audit Direct traffic UTMs &amp; SEO landing page quality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943600" y="4608576"/>
            <a:ext cx="576072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ADCFC"/>
                </a:solidFill>
                <a:latin typeface="Calibri"/>
              </a:rPr>
              <a:t>→  Organic Search BR ~49% (best quality) → double down: invest in AI/Edge content clusters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943600" y="4992624"/>
            <a:ext cx="576072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ADCFC"/>
                </a:solidFill>
                <a:latin typeface="Calibri"/>
              </a:rPr>
              <a:t>→  Paid Desktop-heavy (55%); Non-Paid Mobile-majority (55%) → tailor ad creatives by device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943600" y="5376672"/>
            <a:ext cx="576072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ADCFC"/>
                </a:solidFill>
                <a:latin typeface="Calibri"/>
              </a:rPr>
              <a:t>→  Paid visits growing (+64.8%) with poor BR — shift budget from display to SEO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77295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Our-Story Page: Conversion &amp; Engagement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27729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CADCFC"/>
                </a:solidFill>
                <a:latin typeface="Calibri"/>
              </a:rPr>
              <a:t>our-story.html only  |  solidigm.com  |  Paid-Display vs Organic/Direct/Referral/Social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960120"/>
            <a:ext cx="1828800" cy="1325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1033272"/>
            <a:ext cx="1828800" cy="72923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065A82"/>
                </a:solidFill>
                <a:latin typeface="Calibri"/>
              </a:rPr>
              <a:t>514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729130"/>
            <a:ext cx="1828800" cy="46405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64748B"/>
                </a:solidFill>
                <a:latin typeface="Calibri"/>
              </a:rPr>
              <a:t>Jan Page Views</a:t>
            </a:r>
          </a:p>
        </p:txBody>
      </p:sp>
      <p:sp>
        <p:nvSpPr>
          <p:cNvPr id="8" name="Rectangle 7"/>
          <p:cNvSpPr/>
          <p:nvPr/>
        </p:nvSpPr>
        <p:spPr>
          <a:xfrm>
            <a:off x="2286000" y="960120"/>
            <a:ext cx="1828800" cy="1325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286000" y="1033272"/>
            <a:ext cx="1828800" cy="72923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1C7293"/>
                </a:solidFill>
                <a:latin typeface="Calibri"/>
              </a:rPr>
              <a:t>31,990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86000" y="1729130"/>
            <a:ext cx="1828800" cy="46405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64748B"/>
                </a:solidFill>
                <a:latin typeface="Calibri"/>
              </a:rPr>
              <a:t>Feb Page Views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51959" y="960120"/>
            <a:ext cx="1828800" cy="1325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51959" y="1033272"/>
            <a:ext cx="1828800" cy="72923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059669"/>
                </a:solidFill>
                <a:latin typeface="Calibri"/>
              </a:rPr>
              <a:t>+6,122%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51959" y="1729130"/>
            <a:ext cx="1828800" cy="46405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64748B"/>
                </a:solidFill>
                <a:latin typeface="Calibri"/>
              </a:rPr>
              <a:t>MoM PV Growth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7919" y="960120"/>
            <a:ext cx="1828800" cy="1325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19" y="1033272"/>
            <a:ext cx="1828800" cy="72923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065A82"/>
                </a:solidFill>
                <a:latin typeface="Calibri"/>
              </a:rPr>
              <a:t>104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19" y="1729130"/>
            <a:ext cx="1828800" cy="46405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64748B"/>
                </a:solidFill>
                <a:latin typeface="Calibri"/>
              </a:rPr>
              <a:t>Jan Unique Visitors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83879" y="960120"/>
            <a:ext cx="1828800" cy="1325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83879" y="1033272"/>
            <a:ext cx="1828800" cy="72923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1C7293"/>
                </a:solidFill>
                <a:latin typeface="Calibri"/>
              </a:rPr>
              <a:t>17,908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83879" y="1729130"/>
            <a:ext cx="1828800" cy="46405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64748B"/>
                </a:solidFill>
                <a:latin typeface="Calibri"/>
              </a:rPr>
              <a:t>Feb Unique Visitors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149840" y="960120"/>
            <a:ext cx="1828800" cy="1325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149840" y="1033272"/>
            <a:ext cx="1828800" cy="72923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1C7293"/>
                </a:solidFill>
                <a:latin typeface="Calibri"/>
              </a:rPr>
              <a:t>89% NP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49840" y="1729130"/>
            <a:ext cx="1828800" cy="46405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64748B"/>
                </a:solidFill>
                <a:latin typeface="Calibri"/>
              </a:rPr>
              <a:t>Feb Non-Paid Share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0040" y="2331720"/>
            <a:ext cx="11612880" cy="256032"/>
          </a:xfrm>
          <a:prstGeom prst="rect">
            <a:avLst/>
          </a:prstGeom>
          <a:solidFill>
            <a:srgbClr val="E8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20040" y="2331720"/>
            <a:ext cx="54864" cy="256032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2920" y="2350008"/>
            <a:ext cx="112471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065A82"/>
                </a:solidFill>
                <a:latin typeface="Calibri"/>
              </a:rPr>
              <a:t>Feb Paid: 3,380 PVs  (10.6%)   |   Feb Non-Paid: 28,610 PVs  (89.4%)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0040" y="2651760"/>
            <a:ext cx="5303520" cy="3200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20040" y="2651760"/>
            <a:ext cx="54864" cy="320040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8640" y="2697480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65A82"/>
                </a:solidFill>
                <a:latin typeface="Calibri"/>
              </a:rPr>
              <a:t>Engagement — our-story.html visitors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3154680"/>
            <a:ext cx="265176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Jan multi-page rate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46120" y="3154680"/>
            <a:ext cx="11887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059669"/>
                </a:solidFill>
                <a:latin typeface="Calibri"/>
              </a:rPr>
              <a:t>47.1%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43400" y="3154680"/>
            <a:ext cx="11887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49 / 104 continued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3813048"/>
            <a:ext cx="265176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Feb multi-page rate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246120" y="3813048"/>
            <a:ext cx="11887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D97706"/>
                </a:solidFill>
                <a:latin typeface="Calibri"/>
              </a:rPr>
              <a:t>38.3%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43400" y="3813048"/>
            <a:ext cx="11887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6,853 / 17,908 continued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4471416"/>
            <a:ext cx="265176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Jan bounce rate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246120" y="4471416"/>
            <a:ext cx="11887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059669"/>
                </a:solidFill>
                <a:latin typeface="Calibri"/>
              </a:rPr>
              <a:t>52.9%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343400" y="4471416"/>
            <a:ext cx="11887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Beats site-wide 61.0%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5129784"/>
            <a:ext cx="265176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Feb bounce rate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246120" y="5129784"/>
            <a:ext cx="11887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D97706"/>
                </a:solidFill>
                <a:latin typeface="Calibri"/>
              </a:rPr>
              <a:t>61.7%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343400" y="5129784"/>
            <a:ext cx="11887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Matches site-wide 64.3%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897880" y="2651760"/>
            <a:ext cx="5989320" cy="3200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897880" y="2651760"/>
            <a:ext cx="54864" cy="320040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126480" y="2697480"/>
            <a:ext cx="557784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65A82"/>
                </a:solidFill>
                <a:latin typeface="Calibri"/>
              </a:rPr>
              <a:t>Where our-story.html Visitors Go Next (Feb)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126480" y="3154680"/>
            <a:ext cx="4572000" cy="420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Solidigm Data Storage Solutions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698480" y="3154680"/>
            <a:ext cx="822960" cy="420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065A82"/>
                </a:solidFill>
                <a:latin typeface="Calibri"/>
              </a:rPr>
              <a:t>1,221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126480" y="3611880"/>
            <a:ext cx="4572000" cy="420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AI Storage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698480" y="3611880"/>
            <a:ext cx="822960" cy="420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065A82"/>
                </a:solidFill>
                <a:latin typeface="Calibri"/>
              </a:rPr>
              <a:t>  787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126480" y="4069080"/>
            <a:ext cx="4572000" cy="420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Edge Storage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698480" y="4069080"/>
            <a:ext cx="822960" cy="420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065A82"/>
                </a:solidFill>
                <a:latin typeface="Calibri"/>
              </a:rPr>
              <a:t>  456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126480" y="4526280"/>
            <a:ext cx="4572000" cy="420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D5-P5336 (Product)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698480" y="4526280"/>
            <a:ext cx="822960" cy="420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065A82"/>
                </a:solidFill>
                <a:latin typeface="Calibri"/>
              </a:rPr>
              <a:t>   91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126480" y="4983480"/>
            <a:ext cx="4572000" cy="420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Incredible Power / Unlocking AI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698480" y="4983480"/>
            <a:ext cx="822960" cy="420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065A82"/>
                </a:solidFill>
                <a:latin typeface="Calibri"/>
              </a:rPr>
              <a:t>   34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126480" y="5440680"/>
            <a:ext cx="4572000" cy="420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D3-S4520 / Data Center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698480" y="5440680"/>
            <a:ext cx="822960" cy="420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065A82"/>
                </a:solidFill>
                <a:latin typeface="Calibri"/>
              </a:rPr>
              <a:t>   31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20040" y="6144768"/>
            <a:ext cx="1143000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065A82"/>
                </a:solidFill>
                <a:latin typeface="Calibri"/>
              </a:rPr>
              <a:t>&gt;&gt; our-story.html surged from 514 to 31,990 PVs (+6,122%) — 89% Non-Paid shows organic brand curiosity driving the visit; paid display brought 10%. Brand trust → product pages funnel confirmed.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77295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Device Performance: Mobile vs Desktop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27729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CADCFC"/>
                </a:solidFill>
                <a:latin typeface="Calibri"/>
              </a:rPr>
              <a:t>Mobile traffic share grew from 48.7% → 52.6% MoM — now the majority device on solidigm.com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914400"/>
            <a:ext cx="5440680" cy="5074920"/>
          </a:xfrm>
          <a:prstGeom prst="rect">
            <a:avLst/>
          </a:prstGeom>
          <a:solidFill>
            <a:srgbClr val="1E3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0292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CADCFC"/>
                </a:solidFill>
                <a:latin typeface="Calibri"/>
              </a:rPr>
              <a:t>JANUARY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1463040"/>
            <a:ext cx="5257800" cy="123444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508760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Desktop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68880" y="1463040"/>
            <a:ext cx="2286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2600" b="1" i="0">
                <a:solidFill>
                  <a:srgbClr val="FFFFFF"/>
                </a:solidFill>
                <a:latin typeface="Calibri"/>
              </a:rPr>
              <a:t>50.3%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057400"/>
            <a:ext cx="46634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Calibri"/>
              </a:rPr>
              <a:t> 97,048 UVs  |  BR 58.1%  |  PPV 2.55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2852928"/>
            <a:ext cx="5257800" cy="123444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898648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Mobile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68880" y="2852928"/>
            <a:ext cx="2286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2600" b="1" i="0">
                <a:solidFill>
                  <a:srgbClr val="FFFFFF"/>
                </a:solidFill>
                <a:latin typeface="Calibri"/>
              </a:rPr>
              <a:t>48.7%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3447288"/>
            <a:ext cx="46634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Calibri"/>
              </a:rPr>
              <a:t> 93,959 UVs  |  BR 67.5%  |  PPV 1.73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4242816"/>
            <a:ext cx="5257800" cy="123444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4288536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Tablet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68880" y="4242816"/>
            <a:ext cx="2286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2600" b="1" i="0">
                <a:solidFill>
                  <a:srgbClr val="FFFFFF"/>
                </a:solidFill>
                <a:latin typeface="Calibri"/>
              </a:rPr>
              <a:t> 4.3%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4837176"/>
            <a:ext cx="46634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Calibri"/>
              </a:rPr>
              <a:t>  8,388 UVs  |  BR 74.3%  |  PPV 1.54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80760" y="914400"/>
            <a:ext cx="5440680" cy="5074920"/>
          </a:xfrm>
          <a:prstGeom prst="rect">
            <a:avLst/>
          </a:prstGeom>
          <a:solidFill>
            <a:srgbClr val="1E3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960120"/>
            <a:ext cx="50292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5A623"/>
                </a:solidFill>
                <a:latin typeface="Calibri"/>
              </a:rPr>
              <a:t>FEBRUARY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72200" y="1463040"/>
            <a:ext cx="5257800" cy="123444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55080" y="1508760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Desktop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69680" y="1463040"/>
            <a:ext cx="2286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2600" b="1" i="0">
                <a:solidFill>
                  <a:srgbClr val="FFFFFF"/>
                </a:solidFill>
                <a:latin typeface="Calibri"/>
              </a:rPr>
              <a:t>43.4%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5080" y="2057400"/>
            <a:ext cx="46634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Calibri"/>
              </a:rPr>
              <a:t> 84,572 UVs  |  BR 61.8%  |  PPV 2.17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2200" y="2852928"/>
            <a:ext cx="5257800" cy="123444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55080" y="2898648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Mobile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69680" y="2852928"/>
            <a:ext cx="2286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2600" b="1" i="0">
                <a:solidFill>
                  <a:srgbClr val="FFFFFF"/>
                </a:solidFill>
                <a:latin typeface="Calibri"/>
              </a:rPr>
              <a:t>52.6%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55080" y="3447288"/>
            <a:ext cx="46634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Calibri"/>
              </a:rPr>
              <a:t>102,321 UVs  |  BR 69.6%  |  PPV 1.79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72200" y="4242816"/>
            <a:ext cx="5257800" cy="123444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55080" y="4288536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Tablet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69680" y="4242816"/>
            <a:ext cx="2286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2600" b="1" i="0">
                <a:solidFill>
                  <a:srgbClr val="FFFFFF"/>
                </a:solidFill>
                <a:latin typeface="Calibri"/>
              </a:rPr>
              <a:t> 7.0%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55080" y="4837176"/>
            <a:ext cx="46634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Calibri"/>
              </a:rPr>
              <a:t> 13,657 UVs  |  BR 70.1%  |  PPV 2.04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20040" y="6199632"/>
            <a:ext cx="114300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F5A623"/>
                </a:solidFill>
                <a:latin typeface="Calibri"/>
              </a:rPr>
              <a:t>&gt;&gt; Paid visitors: 55% Desktop / 39% Mobile.  Non-Paid visitors: 41% Desktop / 55% Mobile — mobile is the non-paid majority. Align ad targeting and UX accordingly.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77295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Geographic Analysis — solidigm.com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27729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CADCFC"/>
                </a:solidFill>
                <a:latin typeface="Calibri"/>
              </a:rPr>
              <a:t>USA dominates at 84% — but UK traffic collapsed -6.8pp and warrants immediate investigation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914400"/>
            <a:ext cx="5669280" cy="5074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20040" y="914400"/>
            <a:ext cx="54864" cy="507492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960120"/>
            <a:ext cx="53035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65A82"/>
                </a:solidFill>
                <a:latin typeface="Calibri"/>
              </a:rPr>
              <a:t>Top Countries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41732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64748B"/>
                </a:solidFill>
                <a:latin typeface="Calibri"/>
              </a:rPr>
              <a:t>Country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23160" y="141732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64748B"/>
                </a:solidFill>
                <a:latin typeface="Calibri"/>
              </a:rPr>
              <a:t>Jan 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20440" y="141732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64748B"/>
                </a:solidFill>
                <a:latin typeface="Calibri"/>
              </a:rPr>
              <a:t>Feb 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141732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64748B"/>
                </a:solidFill>
                <a:latin typeface="Calibri"/>
              </a:rPr>
              <a:t>MoM Δ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1737360"/>
            <a:ext cx="548640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1810512"/>
            <a:ext cx="16916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USA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23160" y="1810512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065A82"/>
                </a:solidFill>
                <a:latin typeface="Calibri"/>
              </a:rPr>
              <a:t>73.4%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20440" y="1810512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1C7293"/>
                </a:solidFill>
                <a:latin typeface="Calibri"/>
              </a:rPr>
              <a:t>84.4%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1810512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059669"/>
                </a:solidFill>
                <a:latin typeface="Calibri"/>
              </a:rPr>
              <a:t>+11.0pp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2240280"/>
            <a:ext cx="5486400" cy="4754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2313432"/>
            <a:ext cx="16916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UK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23160" y="2313432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065A82"/>
                </a:solidFill>
                <a:latin typeface="Calibri"/>
              </a:rPr>
              <a:t> 9.2%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20440" y="2313432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1C7293"/>
                </a:solidFill>
                <a:latin typeface="Calibri"/>
              </a:rPr>
              <a:t> 2.4%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2313432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DC2626"/>
                </a:solidFill>
                <a:latin typeface="Calibri"/>
              </a:rPr>
              <a:t> -6.8pp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1480" y="2743200"/>
            <a:ext cx="548640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2816352"/>
            <a:ext cx="16916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Germany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423160" y="2816352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065A82"/>
                </a:solidFill>
                <a:latin typeface="Calibri"/>
              </a:rPr>
              <a:t> 3.7%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20440" y="2816352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1C7293"/>
                </a:solidFill>
                <a:latin typeface="Calibri"/>
              </a:rPr>
              <a:t> 1.9%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0" y="2816352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DC2626"/>
                </a:solidFill>
                <a:latin typeface="Calibri"/>
              </a:rPr>
              <a:t> -1.8pp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80" y="3246120"/>
            <a:ext cx="5486400" cy="4754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4360" y="3319272"/>
            <a:ext cx="16916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India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423160" y="3319272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065A82"/>
                </a:solidFill>
                <a:latin typeface="Calibri"/>
              </a:rPr>
              <a:t> 1.3%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20440" y="3319272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1C7293"/>
                </a:solidFill>
                <a:latin typeface="Calibri"/>
              </a:rPr>
              <a:t> 1.5%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0" y="3319272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059669"/>
                </a:solidFill>
                <a:latin typeface="Calibri"/>
              </a:rPr>
              <a:t> +0.2pp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3749039"/>
            <a:ext cx="548640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94360" y="3822191"/>
            <a:ext cx="16916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Canada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423160" y="3822191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065A82"/>
                </a:solidFill>
                <a:latin typeface="Calibri"/>
              </a:rPr>
              <a:t> 1.2%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20440" y="3822191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1C7293"/>
                </a:solidFill>
                <a:latin typeface="Calibri"/>
              </a:rPr>
              <a:t> 1.4%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0" y="3822191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059669"/>
                </a:solidFill>
                <a:latin typeface="Calibri"/>
              </a:rPr>
              <a:t> +0.2pp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11480" y="4251960"/>
            <a:ext cx="5486400" cy="4754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4360" y="4325112"/>
            <a:ext cx="16916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China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23160" y="4325112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065A82"/>
                </a:solidFill>
                <a:latin typeface="Calibri"/>
              </a:rPr>
              <a:t> 1.1%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520440" y="4325112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1C7293"/>
                </a:solidFill>
                <a:latin typeface="Calibri"/>
              </a:rPr>
              <a:t> 0.7%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2000" y="4325112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D97706"/>
                </a:solidFill>
                <a:latin typeface="Calibri"/>
              </a:rPr>
              <a:t> -0.4pp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11480" y="4754880"/>
            <a:ext cx="548640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94360" y="4828032"/>
            <a:ext cx="16916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Taiwan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423160" y="4828032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065A82"/>
                </a:solidFill>
                <a:latin typeface="Calibri"/>
              </a:rPr>
              <a:t> 0.9%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20440" y="4828032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1C7293"/>
                </a:solidFill>
                <a:latin typeface="Calibri"/>
              </a:rPr>
              <a:t> 0.7%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572000" y="4828032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64748B"/>
                </a:solidFill>
                <a:latin typeface="Calibri"/>
              </a:rPr>
              <a:t> -0.2pp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11480" y="5257800"/>
            <a:ext cx="5486400" cy="4754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94360" y="5330952"/>
            <a:ext cx="16916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Mexico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423160" y="5330952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065A82"/>
                </a:solidFill>
                <a:latin typeface="Calibri"/>
              </a:rPr>
              <a:t> 0.6%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520440" y="5330952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1C7293"/>
                </a:solidFill>
                <a:latin typeface="Calibri"/>
              </a:rPr>
              <a:t> 0.7%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572000" y="5330952"/>
            <a:ext cx="1188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64748B"/>
                </a:solidFill>
                <a:latin typeface="Calibri"/>
              </a:rPr>
              <a:t> +0.1pp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263640" y="914400"/>
            <a:ext cx="5577840" cy="2377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6263640" y="914400"/>
            <a:ext cx="54864" cy="237744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492240" y="960120"/>
            <a:ext cx="512064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65A82"/>
                </a:solidFill>
                <a:latin typeface="Calibri"/>
              </a:rPr>
              <a:t>US Market Concentration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492240" y="1417320"/>
            <a:ext cx="201168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E293B"/>
                </a:solidFill>
                <a:latin typeface="Calibri"/>
              </a:rPr>
              <a:t>Jan US share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549640" y="1417320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065A82"/>
                </a:solidFill>
                <a:latin typeface="Calibri"/>
              </a:rPr>
              <a:t>73.4%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492240" y="1737360"/>
            <a:ext cx="51206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Consistent home-market baseline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92240" y="2075688"/>
            <a:ext cx="201168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E293B"/>
                </a:solidFill>
                <a:latin typeface="Calibri"/>
              </a:rPr>
              <a:t>Feb US share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549640" y="2075688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065A82"/>
                </a:solidFill>
                <a:latin typeface="Calibri"/>
              </a:rPr>
              <a:t>84.4%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492240" y="2395728"/>
            <a:ext cx="51206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+11pp jump — other markets shrank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492240" y="2734056"/>
            <a:ext cx="201168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E293B"/>
                </a:solidFill>
                <a:latin typeface="Calibri"/>
              </a:rPr>
              <a:t>US PPV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549640" y="2734056"/>
            <a:ext cx="1005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065A82"/>
                </a:solidFill>
                <a:latin typeface="Calibri"/>
              </a:rPr>
              <a:t>2.15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492240" y="3054096"/>
            <a:ext cx="51206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Calibri"/>
              </a:rPr>
              <a:t>Slightly below site average (2.03)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263640" y="3520440"/>
            <a:ext cx="5577840" cy="242316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6263640" y="3520440"/>
            <a:ext cx="5577840" cy="64008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446520" y="3611880"/>
            <a:ext cx="52120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DC2626"/>
                </a:solidFill>
                <a:latin typeface="Calibri"/>
              </a:rPr>
              <a:t>UK / EMEA Alert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446520" y="4069080"/>
            <a:ext cx="521208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ADCFC"/>
                </a:solidFill>
                <a:latin typeface="Calibri"/>
              </a:rPr>
              <a:t>•  UK: 9.2% → 2.4% traffic share (-6.8pp) in one month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446520" y="4453128"/>
            <a:ext cx="521208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ADCFC"/>
                </a:solidFill>
                <a:latin typeface="Calibri"/>
              </a:rPr>
              <a:t>•  Germany: 3.7% → 1.9% (-1.8pp) — similar pattern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446520" y="4837176"/>
            <a:ext cx="521208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ADCFC"/>
                </a:solidFill>
                <a:latin typeface="Calibri"/>
              </a:rPr>
              <a:t>•  Combined EMEA drop: ~10pp of total site traffic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446520" y="5221224"/>
            <a:ext cx="521208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ADCFC"/>
                </a:solidFill>
                <a:latin typeface="Calibri"/>
              </a:rPr>
              <a:t>•  Possible causes: campaign ended, referral removed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446520" y="5605272"/>
            <a:ext cx="521208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ADCFC"/>
                </a:solidFill>
                <a:latin typeface="Calibri"/>
              </a:rPr>
              <a:t>•  → Audit EMEA campaign activity &amp; referral links NOW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20040" y="6199632"/>
            <a:ext cx="114300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DC2626"/>
                </a:solidFill>
                <a:latin typeface="Calibri"/>
              </a:rPr>
              <a:t>UK + Germany combined dropped ~8.5pp in one month — EMEA traffic investigation is a top priority.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77295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Deep-Dive: User Behavior Patterns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27729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CADCFC"/>
                </a:solidFill>
                <a:latin typeface="Calibri"/>
              </a:rPr>
              <a:t>How visitors engage, where they go, and what it means for your B2B funnel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914400"/>
            <a:ext cx="5623560" cy="2724912"/>
          </a:xfrm>
          <a:prstGeom prst="rect">
            <a:avLst/>
          </a:prstGeom>
          <a:solidFill>
            <a:srgbClr val="1E3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20040" y="914400"/>
            <a:ext cx="5623560" cy="64008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005840"/>
            <a:ext cx="52120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C7293"/>
                </a:solidFill>
                <a:latin typeface="Calibri"/>
              </a:rPr>
              <a:t>Engagement Funnel (Feb)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463040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F5A623"/>
                </a:solidFill>
                <a:latin typeface="Calibri"/>
              </a:rPr>
              <a:t>64.3%   bounce on 1st page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755648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Calibri"/>
              </a:rPr>
              <a:t>18.5%   read 2 pages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048256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Calibri"/>
              </a:rPr>
              <a:t> 6.9%   read 3 pages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340864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Calibri"/>
              </a:rPr>
              <a:t> 5.4%   read 4-5 pages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2633472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Calibri"/>
              </a:rPr>
              <a:t> 3.3%   read 6-10 pages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2926080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059669"/>
                </a:solidFill>
                <a:latin typeface="Calibri"/>
              </a:rPr>
              <a:t> 1.5%   read 11+ pages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3218688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→ 35.7% of visitors genuinely engaged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80760" y="914400"/>
            <a:ext cx="5623560" cy="2724912"/>
          </a:xfrm>
          <a:prstGeom prst="rect">
            <a:avLst/>
          </a:prstGeom>
          <a:solidFill>
            <a:srgbClr val="1E3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080760" y="914400"/>
            <a:ext cx="5623560" cy="64008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63640" y="1005840"/>
            <a:ext cx="52120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65A82"/>
                </a:solidFill>
                <a:latin typeface="Calibri"/>
              </a:rPr>
              <a:t>Visitor Loyalty (Visit #)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1463040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F5A623"/>
                </a:solidFill>
                <a:latin typeface="Calibri"/>
              </a:rPr>
              <a:t> 2.5%   First visit (new)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63640" y="1755648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Calibri"/>
              </a:rPr>
              <a:t>46.1%   2nd visit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63640" y="2048256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059669"/>
                </a:solidFill>
                <a:latin typeface="Calibri"/>
              </a:rPr>
              <a:t>51.3%   6th+ visit (loyal)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2340864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Calibri"/>
              </a:rPr>
              <a:t> 2.7%   9th visit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63640" y="2633472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→ 97.5% are returning visitors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3640" y="2926080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→ Strong brand stickiness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63640" y="3218688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D97706"/>
                </a:solidFill>
                <a:latin typeface="Calibri"/>
              </a:rPr>
              <a:t>→ Acquisition is the weak link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0040" y="3840480"/>
            <a:ext cx="5623560" cy="2724912"/>
          </a:xfrm>
          <a:prstGeom prst="rect">
            <a:avLst/>
          </a:prstGeom>
          <a:solidFill>
            <a:srgbClr val="1E3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20040" y="3840480"/>
            <a:ext cx="5623560" cy="64008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2920" y="3931920"/>
            <a:ext cx="52120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5A623"/>
                </a:solidFill>
                <a:latin typeface="Calibri"/>
              </a:rPr>
              <a:t>High-Engagement Journey (5+pg)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4389120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Calibri"/>
              </a:rPr>
              <a:t>① Solidigm Data Storage Solutions (entry)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4681728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Calibri"/>
              </a:rPr>
              <a:t>② AI Storage (product discovery)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4974336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Calibri"/>
              </a:rPr>
              <a:t>③ Our Story (trust building)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5266944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Calibri"/>
              </a:rPr>
              <a:t>④ Edge Storage / D5-P5336 (evaluation)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5559552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059669"/>
                </a:solidFill>
                <a:latin typeface="Calibri"/>
              </a:rPr>
              <a:t>⑤ Where to Buy (purchase intent)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20" y="5852160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→ 5-step B2B consideration path identified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080760" y="3840480"/>
            <a:ext cx="5623560" cy="2724912"/>
          </a:xfrm>
          <a:prstGeom prst="rect">
            <a:avLst/>
          </a:prstGeom>
          <a:solidFill>
            <a:srgbClr val="1E3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080760" y="3840480"/>
            <a:ext cx="5623560" cy="64008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263640" y="3931920"/>
            <a:ext cx="52120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C7293"/>
                </a:solidFill>
                <a:latin typeface="Calibri"/>
              </a:rPr>
              <a:t>Hourly &amp; Weekly Patterns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63640" y="4389120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Calibri"/>
              </a:rPr>
              <a:t>JAN peak: 05:00 UTC (US overnight / APAC)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63640" y="4681728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Calibri"/>
              </a:rPr>
              <a:t>FEB peak: 07:00 UTC (EU/US morning)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63640" y="4974336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Calibri"/>
              </a:rPr>
              <a:t>JAN top day: Friday (76,611 PVs)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63640" y="5266944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Calibri"/>
              </a:rPr>
              <a:t>FEB top day: Tuesday (63,165 PVs)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263640" y="5559552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Calibri"/>
              </a:rPr>
              <a:t>Weekend traffic: ~18% of weekly PVs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63640" y="5852160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059669"/>
                </a:solidFill>
                <a:latin typeface="Calibri"/>
              </a:rPr>
              <a:t>→ B2B buyers are active Tue-Fri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77295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Strategic Recommendations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27729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CADCFC"/>
                </a:solidFill>
                <a:latin typeface="Calibri"/>
              </a:rPr>
              <a:t>6 data-driven priorities — each with clear reasoning and expected impact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960120"/>
            <a:ext cx="5669280" cy="16642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20040" y="960120"/>
            <a:ext cx="502920" cy="1664208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9184" y="1371600"/>
            <a:ext cx="475488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P1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014984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E293B"/>
                </a:solidFill>
                <a:latin typeface="Calibri"/>
              </a:rPr>
              <a:t>Fix Paid &amp; Display Channel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435608"/>
            <a:ext cx="49377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Paid-Display BR is 70.6% in Feb. Stop or rebuild landing pages to match ad intent — high spend, low return.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258568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DC2626"/>
                </a:solidFill>
                <a:latin typeface="Calibri"/>
              </a:rPr>
              <a:t>&gt;&gt; Budget saved, ROI improved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63640" y="960120"/>
            <a:ext cx="5669280" cy="16642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63640" y="960120"/>
            <a:ext cx="502920" cy="1664208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72783" y="1371600"/>
            <a:ext cx="475488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P2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0" y="1014984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E293B"/>
                </a:solidFill>
                <a:latin typeface="Calibri"/>
              </a:rPr>
              <a:t>Double Down on Organic SEO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0" y="1435608"/>
            <a:ext cx="49377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Organic Search has the lowest BR at 48.5-49.5% — best traffic quality. Create more AI/Edge storage content clusters.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0" y="2258568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C7293"/>
                </a:solidFill>
                <a:latin typeface="Calibri"/>
              </a:rPr>
              <a:t>&gt;&gt; Lower CPA, sustainable growth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040" y="2724912"/>
            <a:ext cx="5669280" cy="16642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20040" y="2724912"/>
            <a:ext cx="502920" cy="166420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9184" y="3136392"/>
            <a:ext cx="475488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P3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2779776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E293B"/>
                </a:solidFill>
                <a:latin typeface="Calibri"/>
              </a:rPr>
              <a:t>Mobile UX Optimization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3200400"/>
            <a:ext cx="49377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Mobile is now 52.6% of traffic (majority!) but lags desktop in PPV (1.79 vs 2.17). Speed test + CTA audit.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4023360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D97706"/>
                </a:solidFill>
                <a:latin typeface="Calibri"/>
              </a:rPr>
              <a:t>&gt;&gt; +10% mobile engagement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63640" y="2724912"/>
            <a:ext cx="5669280" cy="16642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63640" y="2724912"/>
            <a:ext cx="502920" cy="1664208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72783" y="3136392"/>
            <a:ext cx="475488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P4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0" y="2779776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E293B"/>
                </a:solidFill>
                <a:latin typeface="Calibri"/>
              </a:rPr>
              <a:t>Amplify Our Story Page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0" y="3200400"/>
            <a:ext cx="49377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Feb surged +414% on solidigm.com — but engagement rate dropped to 39.5%. Add video, social proof, and CTAs.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0" y="4023360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065A82"/>
                </a:solidFill>
                <a:latin typeface="Calibri"/>
              </a:rPr>
              <a:t>&gt;&gt; Convert brand-curious → pipeline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20040" y="4489704"/>
            <a:ext cx="5669280" cy="16642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20040" y="4489704"/>
            <a:ext cx="502920" cy="1664208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29184" y="4901184"/>
            <a:ext cx="475488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P5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4544568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E293B"/>
                </a:solidFill>
                <a:latin typeface="Calibri"/>
              </a:rPr>
              <a:t>Investigate EMEA Traffic Collapse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4400" y="4965192"/>
            <a:ext cx="49377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UK dropped from 9.2% to 2.4%, Germany 3.7% to 1.9% — combined -8.5pp in one month. Audit campaigns &amp; referrals.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" y="5788152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059669"/>
                </a:solidFill>
                <a:latin typeface="Calibri"/>
              </a:rPr>
              <a:t>&gt;&gt; Recover 8pp+ of lost EMEA reach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263640" y="4489704"/>
            <a:ext cx="5669280" cy="16642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263640" y="4489704"/>
            <a:ext cx="502920" cy="1664208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72783" y="4901184"/>
            <a:ext cx="475488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P6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58000" y="4544568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E293B"/>
                </a:solidFill>
                <a:latin typeface="Calibri"/>
              </a:rPr>
              <a:t>Fix Direct Traffic Attribution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58000" y="4965192"/>
            <a:ext cx="49377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Direct dropped -13.3pp in Feb (60.8% → 47.5%). Add UTM tags to all campaigns to reduce dark social blindspots.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58000" y="5788152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F5A623"/>
                </a:solidFill>
                <a:latin typeface="Calibri"/>
              </a:rPr>
              <a:t>&gt;&gt; Improve attribution accuracy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29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91440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  <a:latin typeface="Calibri"/>
              </a:rPr>
              <a:t>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0" i="0">
                <a:solidFill>
                  <a:srgbClr val="CADCFC"/>
                </a:solidFill>
                <a:latin typeface="Calibri"/>
              </a:rPr>
              <a:t>From insights to action — prioritized 30/60/90-day roadmap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828800"/>
            <a:ext cx="10515600" cy="36576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965960"/>
            <a:ext cx="3611880" cy="4114800"/>
          </a:xfrm>
          <a:prstGeom prst="rect">
            <a:avLst/>
          </a:prstGeom>
          <a:solidFill>
            <a:srgbClr val="1E3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965960"/>
            <a:ext cx="3611880" cy="73152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057400"/>
            <a:ext cx="33375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5A623"/>
                </a:solidFill>
                <a:latin typeface="Calibri"/>
              </a:rPr>
              <a:t>30 DAYS</a:t>
            </a:r>
            <a:br/>
            <a:r>
              <a:t>(Quick Wins)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788920"/>
            <a:ext cx="333756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ADCFC"/>
                </a:solidFill>
                <a:latin typeface="Calibri"/>
              </a:rPr>
              <a:t>→  Add UTM tags to ALL paid &amp; campaign links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474720"/>
            <a:ext cx="333756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ADCFC"/>
                </a:solidFill>
                <a:latin typeface="Calibri"/>
              </a:rPr>
              <a:t>→  Audit EMEA campaigns — UK dropped -6.8pp in Feb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160520"/>
            <a:ext cx="333756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ADCFC"/>
                </a:solidFill>
                <a:latin typeface="Calibri"/>
              </a:rPr>
              <a:t>→  Filter bot traffic in your analytics dashboard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4846320"/>
            <a:ext cx="333756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ADCFC"/>
                </a:solidFill>
                <a:latin typeface="Calibri"/>
              </a:rPr>
              <a:t>→  Add related-content CTA blocks on AI Storage page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53712" y="1965960"/>
            <a:ext cx="3611880" cy="4114800"/>
          </a:xfrm>
          <a:prstGeom prst="rect">
            <a:avLst/>
          </a:prstGeom>
          <a:solidFill>
            <a:srgbClr val="1E3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53712" y="1965960"/>
            <a:ext cx="3611880" cy="73152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90872" y="2057400"/>
            <a:ext cx="33375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CADCFC"/>
                </a:solidFill>
                <a:latin typeface="Calibri"/>
              </a:rPr>
              <a:t>60 DAYS</a:t>
            </a:r>
            <a:br/>
            <a:r>
              <a:t>(Structural Fixes)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90872" y="2788920"/>
            <a:ext cx="333756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ADCFC"/>
                </a:solidFill>
                <a:latin typeface="Calibri"/>
              </a:rPr>
              <a:t>→  Rebuild paid display landing pages (aligned to ad)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90872" y="3474720"/>
            <a:ext cx="333756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ADCFC"/>
                </a:solidFill>
                <a:latin typeface="Calibri"/>
              </a:rPr>
              <a:t>→  Mobile speed audit + CTA redesign for mobile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90872" y="4160520"/>
            <a:ext cx="333756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ADCFC"/>
                </a:solidFill>
                <a:latin typeface="Calibri"/>
              </a:rPr>
              <a:t>→  Add video + social proof to Our-Story page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90872" y="4846320"/>
            <a:ext cx="333756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ADCFC"/>
                </a:solidFill>
                <a:latin typeface="Calibri"/>
              </a:rPr>
              <a:t>→  Reactivate or replace EMEA referral/campaign sources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375904" y="1965960"/>
            <a:ext cx="3611880" cy="4114800"/>
          </a:xfrm>
          <a:prstGeom prst="rect">
            <a:avLst/>
          </a:prstGeom>
          <a:solidFill>
            <a:srgbClr val="1E3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375904" y="1965960"/>
            <a:ext cx="3611880" cy="7315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13064" y="2057400"/>
            <a:ext cx="33375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059669"/>
                </a:solidFill>
                <a:latin typeface="Calibri"/>
              </a:rPr>
              <a:t>90 DAYS</a:t>
            </a:r>
            <a:br/>
            <a:r>
              <a:t>(Growth Programs)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13064" y="2788920"/>
            <a:ext cx="333756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ADCFC"/>
                </a:solidFill>
                <a:latin typeface="Calibri"/>
              </a:rPr>
              <a:t>→  SEO content sprint: AI/Edge storage keyword clusters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13064" y="3474720"/>
            <a:ext cx="333756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ADCFC"/>
                </a:solidFill>
                <a:latin typeface="Calibri"/>
              </a:rPr>
              <a:t>→  Formalise Content→Product→Buy navigation path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13064" y="4160520"/>
            <a:ext cx="333756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ADCFC"/>
                </a:solidFill>
                <a:latin typeface="Calibri"/>
              </a:rPr>
              <a:t>→  Investigate and recover UK/EMEA traffic sources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13064" y="4846320"/>
            <a:ext cx="333756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ADCFC"/>
                </a:solidFill>
                <a:latin typeface="Calibri"/>
              </a:rPr>
              <a:t>→  Implement heatmaps on top 5 pages (Hotjar/MS Clarity)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6492240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Data source: dotcom_analytics_jan2026.xlsx &amp; dotcom_analytics_feb2026.xlsx  |  Analysis: March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