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SOLIDIGM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ADCFC"/>
                </a:solidFill>
                <a:latin typeface="Calibri"/>
              </a:rPr>
              <a:t>Website Analytics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B0CC"/>
                </a:solidFill>
                <a:latin typeface="Calibri"/>
              </a:rPr>
              <a:t>January vs February FY2026  |  B2B Digital Marketing Deep-Dive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80360"/>
            <a:ext cx="868680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818K+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Page Views Analyzed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~388K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Unique Visitors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11%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Bot Traffic Removed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Prepared for: Digital Marketing Leadership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Monthly KPI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FY26  vs  Feb FY26 — cleaned data (bots &amp; junk referrers removed)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557784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20" y="868680"/>
            <a:ext cx="5989320" cy="502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86968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PAID TRAFFIC  (Paid-Display)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886968"/>
            <a:ext cx="56235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NON-PAID TRAFFIC  (Organic / Direct / Referral / Social)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44752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44752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 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15.8%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+5.9pp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20240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920240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23,439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33,759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95728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395728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+0.6pp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871216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2871216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39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+0.06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1444752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1444752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90.1%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84.2%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-5.9pp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920240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1920240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172,118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164,380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-4.5%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9320" y="2395728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89320" y="2395728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60.8%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64.6%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+3.8pp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2871216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89320" y="2871216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-0.19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39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2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3364992"/>
            <a:ext cx="1170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★ Avg daily PVs: Paid Jan 1,353 → Feb 2,230 (+64.8%) |  Non-Paid Jan 12,293 → Feb 11,884 (-3.3%)  |  solidigm.com only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3749039"/>
            <a:ext cx="117043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380390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OVERALL SITE SUMMARY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114800"/>
            <a:ext cx="11704320" cy="2926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2688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425696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4320" y="442569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445312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Total Page Views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423,020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395,182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26880" y="445312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-6.6%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4782312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4782312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80974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193,070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194,667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4809744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+0.8%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138928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5138928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51663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 / Visitor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2.03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0" y="516636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-0.16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5495544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5495544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52297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 (total)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61.0%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64.3%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26880" y="5522976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+3.3pp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852160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5852160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587959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(5+ pgs)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72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14,666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13,222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26880" y="587959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-9.8%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6208776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620877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2920" y="623620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2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7.6%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6.8%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623620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-0.8pp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Traffic Comparison — Month over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Normalized daily averages show +3.4% growth despite Feb having 3 fewer calendar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03520" cy="53949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Traffic Source Shift (% Share)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Feb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Δ 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12064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NON-PAID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90.1%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0992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-5.9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65960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0391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47.5%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0391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-13.3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96312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5694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Organic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13.9%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13.1%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6946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-0.8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26663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099815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Referral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21.3%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099815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+9.6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57015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6301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Social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3.7%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2.3%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63016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96512"/>
            <a:ext cx="5120640" cy="2560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11480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PAID (Paid-Display)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 9.9%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1148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+5.9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70832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439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Paid / Display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9.9%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15.8%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4398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+5.9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914400"/>
            <a:ext cx="27432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C2626"/>
                </a:solidFill>
                <a:latin typeface="Calibri"/>
              </a:rPr>
              <a:t>+64.8%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Paid avg daily PVs</a:t>
            </a:r>
            <a:br/>
            <a:r>
              <a:t>grew MoM (campaigns ramped)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6968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69680" y="91440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Non-Paid avg daily PVs</a:t>
            </a:r>
            <a:br/>
            <a:r>
              <a:t>declined MoM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+9.6pp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Referral share growth</a:t>
            </a:r>
            <a:br/>
            <a:r>
              <a:t>(non-paid: new partners)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968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86968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Overall avg daily PVs</a:t>
            </a:r>
            <a:br/>
            <a:r>
              <a:t>grew MoM (day-normalized)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Day-of-week peak: JAN → Fri (76,611 PVs)  |  FEB → Tue (63,165 PVs)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Top Traffic Leaders — Feb Paid vs Non-Paid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Top 10 pages by Feb PVs  |  Paid = Paid-Display campaigns  |  Non-Paid = Organic / Direct / Referral / 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1161288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66360" y="868680"/>
            <a:ext cx="1234440" cy="384048"/>
          </a:xfrm>
          <a:prstGeom prst="rect">
            <a:avLst/>
          </a:prstGeom>
          <a:solidFill>
            <a:srgbClr val="155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868680"/>
            <a:ext cx="1371600" cy="38404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886968"/>
            <a:ext cx="3200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86968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Jan PVs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Paid PVs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88696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Non-Paid PVs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88696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88696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Engagement Signal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2984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60" y="12984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2984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" y="13350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1353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371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179,592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22,510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371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134,273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1371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371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Homepage — primary entry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17556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66360" y="17556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17556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" y="17922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18105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1828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86,742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16,730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1828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78,252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1828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 +9.5%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1828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Core product — SEO driver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22128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66360" y="22128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2128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" y="22494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2267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286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49,393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18,330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2286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31,046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286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 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286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Stable — consistent demand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6700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66360" y="26700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0" y="26700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20040" y="2706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2724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743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Our Story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514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3,380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2743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28,610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2743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+6,122%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60" y="2743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&gt;&gt; Breakout — mostly Non-Paid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1272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66360" y="31272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0" y="31272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20040" y="3163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0040" y="3182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3200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7639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13,887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3200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10,725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3200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-22.8%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23960" y="3200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Product detail — intent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35844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66360" y="35844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00800" y="35844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20040" y="36210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0040" y="3639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3657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Air-to-Liquid Cooling Article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77639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7,159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1208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46520" y="3657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6,463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0" y="3657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-9.3%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23960" y="3657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40416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166360" y="40416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0" y="40416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" y="40782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0040" y="4096511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4114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Storage Tool™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77639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4,517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1208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46520" y="4114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3,947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72400" y="4114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23960" y="4114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Support tool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0040" y="44988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166360" y="44988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400800" y="44988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20040" y="45354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4553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4572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Homepage (direct)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77639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10,803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208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577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46520" y="4572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3,599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72400" y="4572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-61.3%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23960" y="4572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Brand landing variant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20040" y="49560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66360" y="49560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00800" y="49560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0040" y="4992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0040" y="5010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5029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Unlocking AI Scale (SSD)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77639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  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1208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46520" y="5029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3,425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772400" y="5029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   new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23960" y="5029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New content breakout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0040" y="54132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166360" y="54132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400800" y="54132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320040" y="5449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0040" y="5468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5486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977639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2,353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208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446520" y="5486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3,117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772400" y="5486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+32.5%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823960" y="5486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23620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 Story surged to #4 — 89% Non-Paid (organic/direct). Edge Storage has the highest Paid share at 37% — review campaign ROI.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Bounce Rate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Overall: Jan 61.0%  →  Feb 64.3%  (+3.3 pp)  |  A bounce = visitor who viewed only 1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12064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Bounce Rate by Channel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4937760" cy="59436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53312"/>
            <a:ext cx="73152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PAID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70.0%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444752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70.6%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4937760" cy="594360"/>
          </a:xfrm>
          <a:prstGeom prst="rect">
            <a:avLst/>
          </a:prstGeom>
          <a:solidFill>
            <a:srgbClr val="0D2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73152" cy="594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NON-PAID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03120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97706"/>
                </a:solidFill>
                <a:latin typeface="Calibri"/>
              </a:rPr>
              <a:t>64.6%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2618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  Channel           Jan      Feb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493776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By Source (Non-Paid detail)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2724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48.5%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49.5%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38728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0273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63.6%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69.4%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14216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07822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65.5%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65.4%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89704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55371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6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74.8%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75.1%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914400"/>
            <a:ext cx="6126480" cy="21945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96012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Device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Desktop    58.1% → 61.8%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19202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Mobile     67.5% → 69.6%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  <a:latin typeface="Calibri"/>
              </a:rPr>
              <a:t>Tablet     74.3% → 70.1%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291840"/>
            <a:ext cx="6126480" cy="27432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0" y="3291840"/>
            <a:ext cx="6126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338328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&gt;&gt; Recommendations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3840480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BR stuck at 70%+ both months → stop Amazon Ads (99%!); rebuild display landing pages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4224528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Non-Paid BR rising +3.8pp → audit Direct traffic UTMs &amp; SEO landing page quality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4608576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Organic Search BR ~49% (best quality) → double down: invest in AI/Edge content clusters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4992624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Desktop-heavy (55%); Non-Paid Mobile-majority (55%) → tailor ad creatives by device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376672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visits growing (+64.8%) with poor BR — shift budget from display to SEO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Our-Story Page: Conversion &amp; Engagement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our-story.html only  |  solidigm.com  |  Paid-Display vs Organic/Direct/Referral/Social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Page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31,990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Page 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+6,122%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PV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1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1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104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1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Unique Visitors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17,908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Unique Visitors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89% NP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Non-Paid Share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331720"/>
            <a:ext cx="11612880" cy="256032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331720"/>
            <a:ext cx="54864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35000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5A82"/>
                </a:solidFill>
                <a:latin typeface="Calibri"/>
              </a:rPr>
              <a:t>Feb Paid: 3,380 PVs  (10.6%)   |   Feb Non-Paid: 28,610 PVs  (89.4%)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651760"/>
            <a:ext cx="53035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2651760"/>
            <a:ext cx="54864" cy="3200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69748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Engagement — our-story.html visitors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15468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multi-page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47.1%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49 / 104 continued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8130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multi-page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38.3%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6,853 / 17,908 continued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471416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bounce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52.9%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Beats site-wide 61.0%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129784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bounce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61.7%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Matches site-wide 64.3%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97880" y="2651760"/>
            <a:ext cx="59893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97880" y="2651760"/>
            <a:ext cx="54864" cy="3200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0" y="2697480"/>
            <a:ext cx="5577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Where our-story.html Visitors Go Next (Feb)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3154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3154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1,221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36118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36118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787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40690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40690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456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5262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45262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4983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Incredible Power / Unlocking 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49834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5440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D3-S4520 / Data Center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5440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144768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our-story.html surged from 514 to 31,990 PVs (+6,122%) — 89% Non-Paid shows organic brand curiosity driving the visit; paid display brought 10%. Brand trust → product pages funnel confirmed.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Device Performance: Mobile vs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Mobile traffic share grew from 48.7% → 52.6% MoM — now the majority device on solidigm.com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ADCFC"/>
                </a:solidFill>
                <a:latin typeface="Calibri"/>
              </a:rPr>
              <a:t>JANUARY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97,048 UVs  |  BR 58.1%  |  PPV 2.55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48.7%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93,959 UVs  |  BR 67.5%  |  PPV 1.73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4.3%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8,388 UVs  |  BR 74.3%  |  PPV 1.54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FEBRUARY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84,572 UVs  |  BR 61.8%  |  PPV 2.17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102,321 UVs  |  BR 69.6%  |  PPV 1.79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7.0%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13,657 UVs  |  BR 70.1%  |  PPV 2.04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5A623"/>
                </a:solidFill>
                <a:latin typeface="Calibri"/>
              </a:rPr>
              <a:t>&gt;&gt; Paid visitors: 55% Desktop / 39% Mobile.  Non-Paid visitors: 41% Desktop / 55% Mobile — mobile is the non-paid majority. Align ad targeting and UX accordingly.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Geographic Analysis — solidigm.com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USA dominates at 84% — but UK traffic collapsed -6.8pp and warrants immediate investigation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692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864" cy="5074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Top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Country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Jan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Feb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MoM 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3736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105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84.4%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+11.0pp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134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9.2%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134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-6.8pp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4320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163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Germany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8163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-1.8pp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1927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31927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749039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22191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Canada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1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5196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251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3251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 -0.4pp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75488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8280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Taiwan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8280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-0.2pp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3309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Mexico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53309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+0.1pp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914400"/>
            <a:ext cx="55778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914400"/>
            <a:ext cx="54864" cy="2377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96012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US Market Concentration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141732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Jan US share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141732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17373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Consistent home-market baseline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2075688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Feb US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07568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84.4%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2395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+11pp jump — other markets shrank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2734056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US PPV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273405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305409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Slightly below site average (2.03)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3520440"/>
            <a:ext cx="5577840" cy="24231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63640" y="3520440"/>
            <a:ext cx="55778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UK / EMEA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4069080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UK: 9.2% → 2.4% traffic share (-6.8pp) in one month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6520" y="4453128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Germany: 3.7% → 1.9% (-1.8pp) — similar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837176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Combined EMEA drop: ~10pp of total site traffic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6520" y="5221224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Possible causes: campaign ended, referral removed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5605272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→ Audit EMEA campaign activity &amp; referral links NOW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UK + Germany combined dropped ~8.5pp in one month — EMEA traffic investigation is a top priority.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Deep-Dive: User Behavior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How visitors engage, where they go, and what it means for your B2B funnel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Engagement Funnel (Feb)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64.3%   bounce on 1st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18.5%   read 2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6.9%   read 3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5.4%   read 4-5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3.3%   read 6-10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 1.5%   read 11+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35.7% of visitors genuinely engaged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914400"/>
            <a:ext cx="56235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Visitor Loyalty (Visit #)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 2.5%   First visit (new)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46.1%   2nd 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51.3%   6th+ visit (loyal)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2.7%   9th visit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97.5% are returning visitors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Strong brand stickiness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97706"/>
                </a:solidFill>
                <a:latin typeface="Calibri"/>
              </a:rPr>
              <a:t>→ Acquisition is the weak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5623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High-Engagement Journey (5+pg)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① Solidigm Data Storage Solutions (entry)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② AI Storage (product discovery)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③ Our Story (trust building)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④ Edge Storage / D5-P5336 (evaluation)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⑤ Where to Buy (purchase intent)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5-step B2B consideration path identified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384048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Hourly &amp; Weekly Patterns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peak: 05:00 UTC (US overnight / APAC)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peak: 07:00 UTC (EU/US morning)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top day: Friday (76,611 PVs)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top day: Tuesday (63,165 PVs)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Weekend traffic: ~18% of weekly PVs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→ B2B buyers are active Tue-Fri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6 data-driven priorities — each with clear reasoning and expected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16642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Paid &amp; Display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Paid-Display BR is 70.6% in Feb. Stop or rebuild landing pages to match ad intent — high spend, low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&gt;&gt; Budget saved, ROI improved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960120"/>
            <a:ext cx="502920" cy="16642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Double Down on Organic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Organic Search has the lowest BR at 48.5-49.5% — best traffic quality. Create more AI/Edge storage content clusters.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C7293"/>
                </a:solidFill>
                <a:latin typeface="Calibri"/>
              </a:rPr>
              <a:t>&gt;&gt; Lower CPA, sustainable growth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724912"/>
            <a:ext cx="502920" cy="16642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Mobile UX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Mobile is now 52.6% of traffic (majority!) but lags desktop in PPV (1.79 vs 2.17). Speed test + CTA audit.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&gt;&gt; +10% mobile engagement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724912"/>
            <a:ext cx="502920" cy="16642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Amplify Our Story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Feb surged +414% on solidigm.com — but engagement rate dropped to 39.5%. Add video, social proof, and CTAs.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&gt;&gt; Convert brand-curious → pipeline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489704"/>
            <a:ext cx="502920" cy="16642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Investigate EMEA Traffic Collapse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UK dropped from 9.2% to 2.4%, Germany 3.7% to 1.9% — combined -8.5pp in one month. Audit campaigns &amp; referrals.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&gt;&gt; Recover 8pp+ of lost EMEA reach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89704"/>
            <a:ext cx="502920" cy="16642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3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Direct Traffic Attribution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Direct dropped -13.3pp in Feb (60.8% → 47.5%). Add UTM tags to all campaigns to reduce dark social blindspots.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Calibri"/>
              </a:rPr>
              <a:t>&gt;&gt; Improve attribution accuracy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From insights to action — prioritized 30/60/90-day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61188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30 DAYS</a:t>
            </a:r>
            <a:br/>
            <a:r>
              <a:t>(Quick Wins)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UTM tags to ALL paid &amp; campaign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Audit EMEA campaigns — UK dropped -6.8pp in Feb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Filter bot traffic in your analytics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related-content CTA blocks on AI Storage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965960"/>
            <a:ext cx="3611880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60 DAYS</a:t>
            </a:r>
            <a:br/>
            <a:r>
              <a:t>(Structural Fixes)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Rebuild paid display landing pages (aligned to 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speed audit + CTA redesign for mobile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video + social proof to Our-Story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Reactivate or replace EMEA referral/campaign 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75904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75904" y="1965960"/>
            <a:ext cx="36118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90 DAYS</a:t>
            </a:r>
            <a:br/>
            <a:r>
              <a:t>(Growth Programs)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4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SEO content sprint: AI/Edge storage keyword clusters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Formalise Content→Product→Buy navigation 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Investigate and recover UK/EMEA traffic 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Implement heatmaps on top 5 pages (Hotjar/MS Clarity)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 source: dotcom_analytics_jan2026.xlsx &amp; dotcom_analytics_feb2026.xlsx  |  Analysis: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