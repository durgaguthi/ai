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SOLIDIGM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  <a:latin typeface="Calibri"/>
              </a:rPr>
              <a:t>Website Analytics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AB0CC"/>
                </a:solidFill>
                <a:latin typeface="Calibri"/>
              </a:rPr>
              <a:t>January vs February FY2026  |  B2B Digital Marketing Deep-Dive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80360"/>
            <a:ext cx="86868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  <a:latin typeface="Calibri"/>
              </a:rPr>
              <a:t>1.1M+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Page Views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  <a:latin typeface="Calibri"/>
              </a:rPr>
              <a:t>~442K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Unique Visitors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  <a:latin typeface="Calibri"/>
              </a:rPr>
              <a:t>13%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Bot Traffic Removed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Prepared for: Digital Marketing Leadership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Monthly KPI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Jan FY26  vs  Feb FY26 — cleaned data (bots &amp; junk referrers removed)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70432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86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886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886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February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88696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MoM 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52728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52728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Page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280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500,168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463,197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2801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-7.4%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19656"/>
            <a:ext cx="1170432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819656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4708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Unique Visitors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84708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222,103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4708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220,099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470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-0.9%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86584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386584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414015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Pages / Visitor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414015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2.25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414015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2.10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414015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-0.15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53512"/>
            <a:ext cx="1170432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953512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98094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New Visitor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98094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98094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2.9%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80944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-2.3pp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520440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520440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4787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Returning Visitor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4787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94.8%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54787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97.1%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54787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59669"/>
                </a:solidFill>
                <a:latin typeface="Calibri"/>
              </a:rPr>
              <a:t>+2.3pp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87368"/>
            <a:ext cx="1170432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087368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1148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Bounce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1148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63.3%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1148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66.3%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1148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+3.0pp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654296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4654296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681727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High-Engage (5+pgs)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4681727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17,048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681727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14,487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681727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-15.1%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221224"/>
            <a:ext cx="1170432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221224"/>
            <a:ext cx="54864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248656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Hi-Engage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24865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7.7%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24865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C7293"/>
                </a:solidFill>
                <a:latin typeface="Calibri"/>
              </a:rPr>
              <a:t>6.6%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5248656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-1.1pp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1722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★ Avg daily PVs: Jan 16,134  |  Feb 16,543  (+2.5% day-over-day normalized)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Traffic Comparison — Month over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Normalized daily averages show +2.5% growth despite Feb having 3 fewer calendar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303520" cy="539496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Traffic Source Shift (% Share)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71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371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Feb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Δ 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120640" cy="5943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7830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62.0%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830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52.1%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-9.9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5120640" cy="59436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4144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Organic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44144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22.9%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4144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24.2%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4144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+1.3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08376"/>
            <a:ext cx="5120640" cy="5943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9981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Referral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09981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 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09981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15.7%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9981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+7.4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66744"/>
            <a:ext cx="5120640" cy="59436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58183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Paid /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758183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 3.6%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58183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 6.0%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758183"/>
            <a:ext cx="822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+2.4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25112"/>
            <a:ext cx="5120640" cy="5943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165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41655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 3.1%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41655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 2.0%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16552"/>
            <a:ext cx="822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-1.1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914400"/>
            <a:ext cx="2743200" cy="22860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914400"/>
            <a:ext cx="27432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10515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  <a:latin typeface="Calibri"/>
              </a:rPr>
              <a:t>+2.5%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187451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Avg daily page views</a:t>
            </a:r>
            <a:br/>
            <a:r>
              <a:t>grew month-over-month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914400"/>
            <a:ext cx="2743200" cy="22860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9680" y="91440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10515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D97706"/>
                </a:solidFill>
                <a:latin typeface="Calibri"/>
              </a:rPr>
              <a:t>-9.9pp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187451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Drop in Direct share</a:t>
            </a:r>
            <a:br/>
            <a:r>
              <a:t>(may signal dark social)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474720"/>
            <a:ext cx="2743200" cy="22860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3474720"/>
            <a:ext cx="27432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361187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  <a:latin typeface="Calibri"/>
              </a:rPr>
              <a:t>+7.4pp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Referral share growth</a:t>
            </a:r>
            <a:br/>
            <a:r>
              <a:t>(new partnerships)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3474720"/>
            <a:ext cx="2743200" cy="22860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69680" y="3474720"/>
            <a:ext cx="27432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361187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+2.4pp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Paid/Display growth</a:t>
            </a:r>
            <a:br/>
            <a:r>
              <a:t>(campaign ramp-up)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Day-of-week peak: JAN → Fri (85,836 PVs)  |  FEB → Tue (75,535 PVs)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Traffic Leaders &amp;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Top 10 pages by page views — Jan vs Feb  |  Engagement = pages/visitor for that page's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6128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86968"/>
            <a:ext cx="320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86968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88696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Jan PVs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88696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Feb PVs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88696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MoM 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88696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Feb 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886968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Engagement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98448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1335024"/>
            <a:ext cx="320040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3533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716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Solidigm Data Storage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371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180,811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371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151,016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3716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-16.5%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371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79,392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3716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Homepage — primary entry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755648"/>
            <a:ext cx="116128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" y="1792224"/>
            <a:ext cx="320040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8105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8288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AI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8288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81,376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288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74,967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8288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 -7.9%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18288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43,213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288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Core product — SEO driver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212848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0040" y="2249424"/>
            <a:ext cx="320040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2677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2860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Edge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286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49,221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2286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49,348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2860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 +0.3%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286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27,390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2860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Stable — consistent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670048"/>
            <a:ext cx="116128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" y="27066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7432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Our 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2743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 7,906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2743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29,207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7432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+269%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2743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16,418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27432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&gt;&gt; Breakout page in Feb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127248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20040" y="31638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1821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32004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数据中心 (Data Center – CN)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3200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23,350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120" y="3200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22,210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2004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 -4.9%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3200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19,869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32004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Strong APAC engagement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584448"/>
            <a:ext cx="116128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20040" y="36210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6393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36576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D5-P5336 (Product)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3657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14,991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2120" y="3657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11,370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0840" y="36576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-24.2%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3657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5,307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20" y="36576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Product detail — intent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041648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20040" y="40782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096511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41148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Solidigm 数据存储解决方案 (CN)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51960" y="41148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 5,726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2120" y="41148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10,075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0840" y="41148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+76.0%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09560" y="41148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3,617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89720" y="41148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Growing CN localization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498848"/>
            <a:ext cx="116128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20040" y="45354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5537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45720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Air-to-Liquid Cooling Article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60" y="4572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 7,160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4572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 6,495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0840" y="45720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 -9.3%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09560" y="4572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2,719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9720" y="45720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Thought leadership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4956048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20040" y="49926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0109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50292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Solidigm Storage Tool™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1960" y="5029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 4,551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32120" y="5029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 3,960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20840" y="50292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-13.0%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09560" y="5029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1,368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89720" y="50292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Support tool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5413248"/>
            <a:ext cx="116128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20040" y="5449824"/>
            <a:ext cx="320040" cy="347472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54681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548640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D7-PS1010 (Product)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51960" y="5486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 4,191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32120" y="5486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  2,825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20840" y="548640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-32.6%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9560" y="5486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   753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89720" y="54864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Product detail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0040" y="623620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&gt;&gt; Our Story page surged 269% MoM — a strategic content opportunity worth amplifying.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Bounce Rate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Overall: Jan 63.3%  →  Feb 66.3%  (+3.0 pp)  |  A bounce = visitor who viewed only 1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120640" cy="507492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By Traffic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937760" cy="68580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Organic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Calibri"/>
              </a:rPr>
              <a:t>57.5%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  <a:latin typeface="Calibri"/>
              </a:rPr>
              <a:t>62.7%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4937760" cy="6858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5856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2585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Calibri"/>
              </a:rPr>
              <a:t>67.4%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585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72.2%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4937760" cy="68580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0837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Referral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008376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Calibri"/>
              </a:rPr>
              <a:t>65.9%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08376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  <a:latin typeface="Calibri"/>
              </a:rPr>
              <a:t>66.2%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66744"/>
            <a:ext cx="4937760" cy="6858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58183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Paid /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758183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Calibri"/>
              </a:rPr>
              <a:t>73.5%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58183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/>
              </a:rPr>
              <a:t>68.2%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16552"/>
            <a:ext cx="4937760" cy="68580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0799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507992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Calibri"/>
              </a:rPr>
              <a:t>74.8%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507992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75.0%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25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            Source         Jan     Feb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914400"/>
            <a:ext cx="6126480" cy="219456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960120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By Device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Calibri"/>
              </a:rPr>
              <a:t>Desktop    63.0% → 67.3%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19202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  <a:latin typeface="Calibri"/>
              </a:rPr>
              <a:t>Mobile     67.7% → 69.2%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468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59669"/>
                </a:solidFill>
                <a:latin typeface="Calibri"/>
              </a:rPr>
              <a:t>Tablet     35.3% → 14.8%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291840"/>
            <a:ext cx="6126480" cy="274320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60720" y="3291840"/>
            <a:ext cx="61264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3383280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&gt;&gt;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840480"/>
            <a:ext cx="5760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Google/Bing bounce &lt;50% → invest in SEO content (highest-quality source)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224528"/>
            <a:ext cx="5760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Amazon Ads BR 99.3% → stop or rebuild landing page immediately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08576"/>
            <a:ext cx="5760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Paid display BR 73% → narrow audience targeting; align ad to 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92624"/>
            <a:ext cx="5760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Mobile BR worsening (+1.5pp) → test page speed &amp; mobile CTA clarity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376672"/>
            <a:ext cx="5760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Tablet BR improving dramatically → study what's working there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Our-Story Page: Conversion &amp; Engagement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Covers who-we-are.html · our-story.html · careers-page.html (EN + CN variants)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828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33272"/>
            <a:ext cx="1828800" cy="7292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Calibri"/>
              </a:rPr>
              <a:t>7,906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29130"/>
            <a:ext cx="1828800" cy="4640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Jan Page 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960120"/>
            <a:ext cx="1828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033272"/>
            <a:ext cx="1828800" cy="7292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C7293"/>
                </a:solidFill>
                <a:latin typeface="Calibri"/>
              </a:rPr>
              <a:t>35,040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29130"/>
            <a:ext cx="1828800" cy="4640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Feb Page 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960120"/>
            <a:ext cx="1828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033272"/>
            <a:ext cx="1828800" cy="7292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Calibri"/>
              </a:rPr>
              <a:t>+343%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1729130"/>
            <a:ext cx="1828800" cy="4640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MoM PV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9" y="960120"/>
            <a:ext cx="1828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19" y="1033272"/>
            <a:ext cx="1828800" cy="7292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Calibri"/>
              </a:rPr>
              <a:t>2,446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1729130"/>
            <a:ext cx="1828800" cy="4640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Jan Unique Visitors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960120"/>
            <a:ext cx="1828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033272"/>
            <a:ext cx="1828800" cy="7292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C7293"/>
                </a:solidFill>
                <a:latin typeface="Calibri"/>
              </a:rPr>
              <a:t>18,572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729130"/>
            <a:ext cx="1828800" cy="4640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Feb Unique Visitors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960120"/>
            <a:ext cx="1828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033272"/>
            <a:ext cx="1828800" cy="7292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Calibri"/>
              </a:rPr>
              <a:t>+659%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1729130"/>
            <a:ext cx="1828800" cy="4640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MoM Visitor Growth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68880"/>
            <a:ext cx="530352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468880"/>
            <a:ext cx="54864" cy="3429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1460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Engagement After Our-Story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Jan multi-page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9718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/>
              </a:rPr>
              <a:t>58.5%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7180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1,430 / 2,446 continued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8503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Feb multi-page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6850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  <a:latin typeface="Calibri"/>
              </a:rPr>
              <a:t>40.4%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85032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7,504 / 18,572 continued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9826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Jan avg bounce (site-wide)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39826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/>
              </a:rPr>
              <a:t>63.3%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398264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Beats site-wide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11496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Feb avg bounce (site-wide)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5111496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66.3%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11149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Surge retention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2468880"/>
            <a:ext cx="598932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7880" y="2468880"/>
            <a:ext cx="54864" cy="3429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514600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Where Our-Story Visitors Go Next (Feb)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971800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Solidigm Data Storage Solutions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2971800"/>
            <a:ext cx="822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65A82"/>
                </a:solidFill>
                <a:latin typeface="Calibri"/>
              </a:rPr>
              <a:t>1,212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447288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3447288"/>
            <a:ext cx="822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65A82"/>
                </a:solidFill>
                <a:latin typeface="Calibri"/>
              </a:rPr>
              <a:t>  660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3922776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Edge 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3922776"/>
            <a:ext cx="822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65A82"/>
                </a:solidFill>
                <a:latin typeface="Calibri"/>
              </a:rPr>
              <a:t>  470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398264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数据中心 (Data Center – CN)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4398264"/>
            <a:ext cx="822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65A82"/>
                </a:solidFill>
                <a:latin typeface="Calibri"/>
              </a:rPr>
              <a:t>  142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873752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D5-P5336 (Product)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4873752"/>
            <a:ext cx="822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65A82"/>
                </a:solidFill>
                <a:latin typeface="Calibri"/>
              </a:rPr>
              <a:t>   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349240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Incredible Power Article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5349240"/>
            <a:ext cx="822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65A82"/>
                </a:solidFill>
                <a:latin typeface="Calibri"/>
              </a:rPr>
              <a:t>   34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19963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&gt;&gt; Our-Story → Product pages flow confirms: brand trust pages are a key step in the B2B consideration funnel.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Device Performance: Mobile vs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Mobile traffic share grew from 36.3% → 46.1% MoM — a 10pp shift in one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5440680" cy="507492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JANUARY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257800" cy="1234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630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libri"/>
              </a:rPr>
              <a:t>61.8%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122,762 UVs  |  BR 63.0%  |  PPV 2.52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52928"/>
            <a:ext cx="5257800" cy="1234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98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529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libri"/>
              </a:rPr>
              <a:t>36.3%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472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104,781 UVs  |  BR 67.7%  |  PPV 1.73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42816"/>
            <a:ext cx="52578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885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Tablet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24281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libri"/>
              </a:rPr>
              <a:t> 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3717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   549 UVs  |  BR 35.3%  |  PPV 2.87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914400"/>
            <a:ext cx="5440680" cy="507492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9601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FEBRUARY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463040"/>
            <a:ext cx="5257800" cy="1234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08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4630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libri"/>
              </a:rPr>
              <a:t>50.4%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0574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107,435 UVs  |  BR 67.3%  |  PPV 2.17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852928"/>
            <a:ext cx="5257800" cy="1234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898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8529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libri"/>
              </a:rPr>
              <a:t>46.1%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472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117,678 UVs  |  BR 69.2%  |  PPV 1.81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242816"/>
            <a:ext cx="5257800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2885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Tablet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24281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libri"/>
              </a:rPr>
              <a:t> 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83717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   643 UVs  |  BR 14.8%  |  PPV 5.25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19963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  <a:latin typeface="Calibri"/>
              </a:rPr>
              <a:t>&gt;&gt; Mobile surged from 36% → 46% in one month. Yet mobile PPV (1.81) still lags desktop (2.17) — a UX optimization gap.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Geographic &amp; Language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USA dominates — but APAC engagement quality far exceeds traffic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566928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4864" cy="5074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Top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Country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417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Jan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417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Feb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MoM 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3736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1051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81051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70.2%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81051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80.3%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1051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+10.1pp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40280"/>
            <a:ext cx="5486400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31343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31343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8.3%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1343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31343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 -6.2pp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74320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1635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China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81635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8.0%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1635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81635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libri"/>
              </a:rPr>
              <a:t> -1.9pp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246120"/>
            <a:ext cx="5486400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1927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Germany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31927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3.4%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31927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1.7%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31927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 -1.7pp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749039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822191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Ireland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822191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2.4%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822191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2.3%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822191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 -0.1pp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251960"/>
            <a:ext cx="5486400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32511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Japan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432511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1.4%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32511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1.3%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32511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 -0.1pp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75488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82803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82803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1.3%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482803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1.7%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82803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 +0.4pp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257800"/>
            <a:ext cx="5486400" cy="4754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33095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Korea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533095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 1.2%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533095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  <a:latin typeface="Calibri"/>
              </a:rPr>
              <a:t> 1.2%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33095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  stable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91440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914400"/>
            <a:ext cx="54864" cy="2377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960120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Content Language Split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English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176479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Jan: 86.8%  |  Feb: 87.8%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0116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Calibri"/>
              </a:rPr>
              <a:t>PPV: 2.25 → 2.09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CJK (CN/JP/KR)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63347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Jan: 12.7%  |  Feb: 11.2%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28803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Calibri"/>
              </a:rPr>
              <a:t>PPV: 2.07 → 1.88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520440"/>
            <a:ext cx="5577840" cy="2423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3520440"/>
            <a:ext cx="55778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36118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APAC Opportunity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4069080"/>
            <a:ext cx="5212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 China has 2nd highest PVs but shrinking share (-1.9pp)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453128"/>
            <a:ext cx="5212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 Chinese homepage (主页) shows high repeat visits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4837176"/>
            <a:ext cx="5212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 CJK content PPV (2.07) ≈ English (2.25) — high quality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221224"/>
            <a:ext cx="5212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 Solidigm CN localized pages grew +76% MoM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5605272"/>
            <a:ext cx="5212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 → Invest in APAC content expansion NOW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619963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DC2626"/>
                </a:solidFill>
                <a:latin typeface="Calibri"/>
              </a:rPr>
              <a:t>UK dropped from 8.3% → 2.1% — investigate traffic source change or campaign pause in EMEA.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Deep-Dive: User Behavior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How visitors engage, where they go, and what it means for your B2B 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5623560" cy="2724912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62356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Engagement Funnel (Feb)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alibri"/>
              </a:rPr>
              <a:t>64-66%  bounce on 1st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17.5%   read 2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4825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6.4%   read 3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4086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8.1%   read 4-5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334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3.1%   read 6-10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 1.6%   read 11+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35% of visitors are genuinely engaged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914400"/>
            <a:ext cx="5623560" cy="2724912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914400"/>
            <a:ext cx="562356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00584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Visitor Loyalty (Visit #)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alibri"/>
              </a:rPr>
              <a:t>2.6%   First visit (new)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5564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42.1%  2nd visit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4825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52.7%  6th+ visit (loyal)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4086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2.5%   9th visit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334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95% are returning visitors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26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Strong brand stickiness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1868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  <a:latin typeface="Calibri"/>
              </a:rPr>
              <a:t>→ Acquisition is the weak link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5623560" cy="2724912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40480"/>
            <a:ext cx="56235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3192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High-Engagement Journey (5+pg)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① Solidigm Data Storage Solutions (entry)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6817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② AI Storage (product discovery)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7433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③ Our Story (trust building)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6694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④ Edge Storage / D5-P5336 (evaluation)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5955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⑤ Where to Buy (purchase intent)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521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5-step B2B consideration path identified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840480"/>
            <a:ext cx="5623560" cy="2724912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3840480"/>
            <a:ext cx="562356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93192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Hourly &amp; Weekly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89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JAN peak: midnight UTC (APAC traffic)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6817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FEB peak: 07:00 UTC (EU/US morning)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97433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JAN top day: Friday (85,836 PVs)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26694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FEB top day: Tuesday (75,535 PVs)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55955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Weekend traffic: ~18% of weekly PVs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8521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alibri"/>
              </a:rPr>
              <a:t>→ B2B buyers are active Tue-Fri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6 data-driven priorities — each with clear reasoning and expected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02920" cy="16642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371600"/>
            <a:ext cx="475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14984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Fix Paid &amp; Display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Amazon Ads has 99.3% bounce. DoubleClick: 73-77%. Stop spend or rebuild landing pages to match ad intent.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&gt;&gt; Budget saved, ROI improved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960120"/>
            <a:ext cx="502920" cy="16642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1371600"/>
            <a:ext cx="475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14984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Double Down on Organic 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435608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Google bounce rate is only 46-48% — best traffic quality. Create more AI/Edge storage content clusters.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5856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&gt;&gt; Lower CPA, sustainable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24912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724912"/>
            <a:ext cx="502920" cy="16642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3136392"/>
            <a:ext cx="475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7977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Mobile UX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Mobile is now 46% of traffic (up from 36%) but lags desktop in PPV (1.81 vs 2.17). Speed test + CTA audit.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&gt;&gt; +10% mobile engagement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724912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724912"/>
            <a:ext cx="502920" cy="16642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3" y="3136392"/>
            <a:ext cx="475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7977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Amplify Our Story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200400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Feb surged +343% in PVs — but engagement rate dropped to 40.4%. Add video, social proof, and explicit CTAs.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2336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&gt;&gt; Convert brand-curious → pipeline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89704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89704"/>
            <a:ext cx="502920" cy="16642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4901184"/>
            <a:ext cx="475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44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Expand APAC / Chinese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6519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CN pages grew +76% MoM. Chinese-locale visitors show PPV matching English despite smaller content library.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8815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&gt;&gt; Unlock high-quality APAC traffic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489704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489704"/>
            <a:ext cx="502920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3" y="4901184"/>
            <a:ext cx="475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44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Investigate UK Traffic Drop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96519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UK dropped from 8.3% to 2.1% of traffic in one month. Check if a campaign ended or referral source was removed.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8815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&gt;&gt; Recover 6pp of lost reach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From insights to action — prioritized 30/60/90-day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3611880" cy="41148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611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30 DAYS</a:t>
            </a:r>
            <a:br/>
            <a:r>
              <a:t>(Quick Wins)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Stop Amazon Ads — 99.3% bounce, zero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Add UTM tags to all campaign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Filter bot traffic in your 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Add related-content CTA blocks on AI Storage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1965960"/>
            <a:ext cx="3611880" cy="41148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965960"/>
            <a:ext cx="3611880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0574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60 DAYS</a:t>
            </a:r>
            <a:br/>
            <a:r>
              <a:t>(Structural Fixes)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889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Rebuild paid display landing pages (aligned to ad)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4747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Mobile speed audit + CTA redesign for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1605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Add video + social proof to Our-Story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8463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Launch Chinese content expansion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5904" y="1965960"/>
            <a:ext cx="3611880" cy="4114800"/>
          </a:xfrm>
          <a:prstGeom prst="rect">
            <a:avLst/>
          </a:prstGeom>
          <a:solidFill>
            <a:srgbClr val="1E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75904" y="1965960"/>
            <a:ext cx="36118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20574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90 DAYS</a:t>
            </a:r>
            <a:br/>
            <a:r>
              <a:t>(Growth Programs)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27889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SEO content sprint: AI/Edge storage keyword clusters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34747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Formalise Content→Product→Buy navigation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41605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Investigate and recover UK/EMEA traffic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48463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→  Implement heatmaps on top 5 pages (Hotjar/MS Clarity)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Data source: dotcom_analytics_jan2026.xlsx &amp; dotcom_analytics_feb2026.xlsx  |  Analysis: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