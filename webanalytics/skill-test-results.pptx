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Web Analytics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ADCFC"/>
                </a:solidFill>
                <a:latin typeface="Calibri"/>
              </a:defRPr>
            </a:pPr>
            <a:r>
              <a:t>Skill Test Results — Iteration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AB0CC"/>
                </a:solidFill>
                <a:latin typeface="Calibri"/>
              </a:defRPr>
            </a:pPr>
            <a:r>
              <a:t>Creates interactive HTML dashboards from web/product analytics data</a:t>
            </a:r>
            <a:br/>
            <a:r>
              <a:t>(CSV or Excel) using Plotly.js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5A82"/>
                </a:solidFill>
                <a:latin typeface="Calibri"/>
              </a:defRPr>
            </a:pPr>
            <a:r>
              <a:t>What This Skill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502920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5A82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Transforms raw web analytics data (clickstream exports, traffic logs, event data) into polished, interactive HTML dashboards that product managers and executives can open in any browser.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5A82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49039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• KPI summary cards with headline metrics</a:t>
            </a:r>
            <a:br/>
            <a:r>
              <a:t>• Interactive Plotly.js charts (hover, zoom, pan)</a:t>
            </a:r>
            <a:br/>
            <a:r>
              <a:t>• Traffic trends, top pages, geographic &amp; referrer analysis</a:t>
            </a:r>
            <a:br/>
            <a:r>
              <a:t>• Responsive CSS grid layout</a:t>
            </a:r>
            <a:br/>
            <a:r>
              <a:t>• Single self-contained HTML file output</a:t>
            </a:r>
            <a:br/>
            <a:r>
              <a:t>• Handles multilingual content gracefully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21208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5A82"/>
                </a:solidFill>
                <a:latin typeface="Calibri"/>
              </a:defRPr>
            </a:pPr>
            <a:r>
              <a:t>Test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7293"/>
                </a:solidFill>
                <a:latin typeface="Calibri"/>
              </a:defRPr>
            </a:pPr>
            <a:r>
              <a:t>Test 1: Full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23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Excel file → traffic trends, top pages, geo, referrers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7293"/>
                </a:solidFill>
                <a:latin typeface="Calibri"/>
              </a:defRPr>
            </a:pPr>
            <a:r>
              <a:t>Test 2: SaaS Conversion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91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CSV file → conversion funnel, sources, devices, trends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840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7293"/>
                </a:solidFill>
                <a:latin typeface="Calibri"/>
              </a:defRPr>
            </a:pPr>
            <a:r>
              <a:t>Test 3: Time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160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Excel file → hourly patterns, day-of-week, section engagement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846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Calibri"/>
              </a:defRPr>
            </a:pPr>
            <a:r>
              <a:t>Each test run both with and without the skill (baseline)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5A82"/>
                </a:solidFill>
                <a:latin typeface="Calibri"/>
              </a:defRPr>
            </a:pPr>
            <a:r>
              <a:t>Benchmark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01168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59669"/>
                </a:solidFill>
                <a:latin typeface="Calibri"/>
              </a:defRPr>
            </a:pPr>
            <a:r>
              <a:t>95.2%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With Skill</a:t>
            </a:r>
            <a:br/>
            <a:r>
              <a:t>Pass 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188720"/>
            <a:ext cx="201168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325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4748B"/>
                </a:solidFill>
                <a:latin typeface="Calibri"/>
              </a:defRPr>
            </a:pPr>
            <a:r>
              <a:t>87.4%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Baseline</a:t>
            </a:r>
            <a:br/>
            <a:r>
              <a:t>Pass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188720"/>
            <a:ext cx="201168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325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59669"/>
                </a:solidFill>
                <a:latin typeface="Calibri"/>
              </a:defRPr>
            </a:pPr>
            <a:r>
              <a:t>+7.9%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Pass Rate</a:t>
            </a:r>
            <a:br/>
            <a:r>
              <a:t>Improvement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188720"/>
            <a:ext cx="201168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1325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5A82"/>
                </a:solidFill>
                <a:latin typeface="Calibri"/>
              </a:defRPr>
            </a:pPr>
            <a:r>
              <a:t>49.7K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Avg Tokens</a:t>
            </a:r>
            <a:br/>
            <a:r>
              <a:t>(With Skill)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0" y="1188720"/>
            <a:ext cx="201168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325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5A82"/>
                </a:solidFill>
                <a:latin typeface="Calibri"/>
              </a:defRPr>
            </a:pPr>
            <a:r>
              <a:t>75.9s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Avg Duration</a:t>
            </a:r>
            <a:br/>
            <a:r>
              <a:t>(With Skill)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5A82"/>
                </a:solidFill>
                <a:latin typeface="Calibri"/>
              </a:defRPr>
            </a:pPr>
            <a:r>
              <a:t>Per-Test Breakdown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31520" y="356616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Case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 Skill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 Skill Tokens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 Tokens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Full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9/9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8/9 (89%)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51,335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38,329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SaaS Conversion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8/8 (100%)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7/8 (88%)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52,944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39,643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Time Patterns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6/7 (86%)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6/7 (86%)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44,757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37,333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5A82"/>
                </a:solidFill>
                <a:latin typeface="Calibri"/>
              </a:defRPr>
            </a:pPr>
            <a:r>
              <a:t>Assertion Results — With Skill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338328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5A82"/>
                </a:solidFill>
                <a:latin typeface="Calibri"/>
              </a:defRPr>
            </a:pPr>
            <a:r>
              <a:t>Full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✓  Single HTML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2140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✓  Uses Plotly.js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1401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✓  KPI summary cards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0662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✓  Traffic trends 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992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✓  Top pages visualization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✓  Geographic breakdown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8444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✓  Referrer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7705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✓  Responsive layout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6966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✓  Professional styling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188720"/>
            <a:ext cx="338328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280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5A82"/>
                </a:solidFill>
                <a:latin typeface="Calibri"/>
              </a:defRPr>
            </a:pPr>
            <a:r>
              <a:t>SaaS Conversion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288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✓  Single HTML 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12140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✓  Uses Plotly.js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41401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✓  Conversion funnel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70662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✓  Traffic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9992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✓  Device breakdown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2918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✓  Daily trends chart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58444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✓  KPI summary cards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87705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✓  Professional styling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1188720"/>
            <a:ext cx="338328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280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5A82"/>
                </a:solidFill>
                <a:latin typeface="Calibri"/>
              </a:defRPr>
            </a:pPr>
            <a:r>
              <a:t>Time Patterns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18288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✓  Single HTML 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12140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✓  Uses Plotly.js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41401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✓  Hourly traffic patterns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70662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Calibri"/>
              </a:defRPr>
            </a:pPr>
            <a:r>
              <a:t>✗  Day of week patterns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9992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✓  Section engagement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2918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✓  KPI summary cards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58444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✓  Multilingual content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Note: 'Day of week' failed because the source data covers only a single day (Jan 10, 2026). The skill handled this correctly by showing hourly data instead.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5A82"/>
                </a:solidFill>
                <a:latin typeface="Calibri"/>
              </a:defRPr>
            </a:pPr>
            <a:r>
              <a:t>Skill vs. Baseline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59669"/>
                </a:solidFill>
                <a:latin typeface="Calibri"/>
              </a:defRPr>
            </a:pPr>
            <a:r>
              <a:t>With Skill 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✓  Consistently uses Plotly.js (baseline sometimes picks Chart.js, losing interactivity features)</a:t>
            </a:r>
            <a:br/>
            <a:br/>
            <a:r>
              <a:t>✓  Always includes KPI summary cards at the top for at-a-glance metrics</a:t>
            </a:r>
            <a:br/>
            <a:br/>
            <a:r>
              <a:t>✓  Better responsive CSS grid layout with professional color palette</a:t>
            </a:r>
            <a:br/>
            <a:br/>
            <a:r>
              <a:t>✓  Pre-aggregates data in Python before embedding (faster browser rendering)</a:t>
            </a:r>
            <a:br/>
            <a:br/>
            <a:r>
              <a:t>✓  Handles multilingual content and edge cases more reliably</a:t>
            </a:r>
            <a:br/>
            <a:br/>
            <a:r>
              <a:t>✓  Higher overall assertion pass rate (95.2% vs 87.4%)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21208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97706"/>
                </a:solidFill>
                <a:latin typeface="Calibri"/>
              </a:defRPr>
            </a:pPr>
            <a:r>
              <a:t>Tradeoffs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△  Uses more tokens on average (+11,244 tokens per run) — the skill's structured approach means more processing steps</a:t>
            </a:r>
            <a:br/>
            <a:br/>
            <a:r>
              <a:t>△  Takes longer on average (+33 seconds) — due to more thorough data exploration and multi-section dashboard creation</a:t>
            </a:r>
            <a:br/>
            <a:br/>
            <a:r>
              <a:t>△  On the 'Time Patterns' test, both with-skill and baseline scored equally (6/7) — the skill's advantage is most visible on complex, multi-section dashboards</a:t>
            </a:r>
            <a:br/>
            <a:br/>
            <a:r>
              <a:t>△  The baseline sometimes produces simpler but adequate results when the request is straightforward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ADCFC"/>
                </a:solidFill>
                <a:latin typeface="Calibri"/>
              </a:defRPr>
            </a:pPr>
            <a:r>
              <a:t>1.  Review the interactive eval viewer to see actual dashboard outputs side by side</a:t>
            </a:r>
            <a:br/>
            <a:br/>
            <a:r>
              <a:t>2.  Provide feedback on visual quality, data accuracy, and missing features</a:t>
            </a:r>
            <a:br/>
            <a:br/>
            <a:r>
              <a:t>3.  Iterate on the skill based on your feedback (improve styling, add sections, etc.)</a:t>
            </a:r>
            <a:br/>
            <a:br/>
            <a:r>
              <a:t>4.  Run description optimization for better skill triggering</a:t>
            </a:r>
            <a:br/>
            <a:br/>
            <a:r>
              <a:t>5.  Package and install the final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Open the eval viewer to review all dashboard outputs visually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